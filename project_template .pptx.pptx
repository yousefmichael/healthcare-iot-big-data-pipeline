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rial Bold" charset="1" panose="020B0704020202020204"/>
      <p:regular r:id="rId35"/>
    </p:embeddedFont>
    <p:embeddedFont>
      <p:font typeface="Calibri (MS)" charset="1" panose="020F0502020204030204"/>
      <p:regular r:id="rId36"/>
    </p:embeddedFont>
    <p:embeddedFont>
      <p:font typeface="Arial" charset="1" panose="020B0604020202020204"/>
      <p:regular r:id="rId37"/>
    </p:embeddedFont>
    <p:embeddedFont>
      <p:font typeface="Calibri (MS) Bold" charset="1" panose="020F0702030404030204"/>
      <p:regular r:id="rId39"/>
    </p:embeddedFont>
    <p:embeddedFont>
      <p:font typeface="Arial Italics" charset="1" panose="020B0604020202090204"/>
      <p:regular r:id="rId41"/>
    </p:embeddedFont>
    <p:embeddedFont>
      <p:font typeface="Canva Sans" charset="1" panose="020B0503030501040103"/>
      <p:regular r:id="rId46"/>
    </p:embeddedFont>
    <p:embeddedFont>
      <p:font typeface="Canva Sans Italics" charset="1" panose="020B0503030501040103"/>
      <p:regular r:id="rId49"/>
    </p:embeddedFont>
    <p:embeddedFont>
      <p:font typeface="Canva Sans Bold" charset="1" panose="020B0803030501040103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4.xml" Type="http://schemas.openxmlformats.org/officeDocument/2006/relationships/notesSlide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fonts/font46.fntdata" Type="http://schemas.openxmlformats.org/officeDocument/2006/relationships/font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0.xml" Type="http://schemas.openxmlformats.org/officeDocument/2006/relationships/notesSlide"/><Relationship Id="rId51" Target="fonts/font51.fntdata" Type="http://schemas.openxmlformats.org/officeDocument/2006/relationships/font"/><Relationship Id="rId52" Target="notesSlides/notesSlide11.xml" Type="http://schemas.openxmlformats.org/officeDocument/2006/relationships/notesSlide"/><Relationship Id="rId53" Target="notesSlides/notesSlide12.xml" Type="http://schemas.openxmlformats.org/officeDocument/2006/relationships/notesSlide"/><Relationship Id="rId54" Target="notesSlides/notesSlide13.xml" Type="http://schemas.openxmlformats.org/officeDocument/2006/relationships/notesSlide"/><Relationship Id="rId55" Target="notesSlides/notesSlide14.xml" Type="http://schemas.openxmlformats.org/officeDocument/2006/relationships/notesSlide"/><Relationship Id="rId56" Target="notesSlides/notesSlide15.xml" Type="http://schemas.openxmlformats.org/officeDocument/2006/relationships/notesSlide"/><Relationship Id="rId57" Target="notesSlides/notesSlide16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43.png" Type="http://schemas.openxmlformats.org/officeDocument/2006/relationships/image"/><Relationship Id="rId4" Target="../media/image4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5.png" Type="http://schemas.openxmlformats.org/officeDocument/2006/relationships/image"/><Relationship Id="rId4" Target="../media/image4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15729" y="4083634"/>
            <a:ext cx="1310295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Healthcare IoT Monitoring Platform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15729" y="5847369"/>
            <a:ext cx="9067505" cy="720403"/>
            <a:chOff x="0" y="0"/>
            <a:chExt cx="12090006" cy="960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90000" cy="960543"/>
            </a:xfrm>
            <a:custGeom>
              <a:avLst/>
              <a:gdLst/>
              <a:ahLst/>
              <a:cxnLst/>
              <a:rect r="r" b="b" t="t" l="l"/>
              <a:pathLst>
                <a:path h="960543" w="12090000">
                  <a:moveTo>
                    <a:pt x="0" y="0"/>
                  </a:moveTo>
                  <a:lnTo>
                    <a:pt x="12090000" y="0"/>
                  </a:lnTo>
                  <a:lnTo>
                    <a:pt x="12090000" y="960543"/>
                  </a:lnTo>
                  <a:lnTo>
                    <a:pt x="0" y="9605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6804" r="0" b="-1836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2090006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B3E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SIC 8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15729" y="6401267"/>
            <a:ext cx="2356647" cy="484746"/>
            <a:chOff x="0" y="0"/>
            <a:chExt cx="3142196" cy="6463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2200" cy="646331"/>
            </a:xfrm>
            <a:custGeom>
              <a:avLst/>
              <a:gdLst/>
              <a:ahLst/>
              <a:cxnLst/>
              <a:rect r="r" b="b" t="t" l="l"/>
              <a:pathLst>
                <a:path h="646331" w="3142200">
                  <a:moveTo>
                    <a:pt x="0" y="0"/>
                  </a:moveTo>
                  <a:lnTo>
                    <a:pt x="3142200" y="0"/>
                  </a:lnTo>
                  <a:lnTo>
                    <a:pt x="3142200" y="646331"/>
                  </a:lnTo>
                  <a:lnTo>
                    <a:pt x="0" y="6463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728" r="0" b="-4472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3142196" cy="665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>
                  <a:solidFill>
                    <a:srgbClr val="00B3E3"/>
                  </a:solidFill>
                  <a:latin typeface="Arial"/>
                  <a:ea typeface="Arial"/>
                  <a:cs typeface="Arial"/>
                  <a:sym typeface="Arial"/>
                </a:rPr>
                <a:t>BD Course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89602" y="6767036"/>
            <a:ext cx="95875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B3E3"/>
                </a:solidFill>
                <a:latin typeface="Calibri (MS)"/>
                <a:ea typeface="Calibri (MS)"/>
                <a:cs typeface="Calibri (MS)"/>
                <a:sym typeface="Calibri (MS)"/>
              </a:rPr>
              <a:t>G 20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093720" y="4840386"/>
            <a:ext cx="8279101" cy="415500"/>
            <a:chOff x="0" y="0"/>
            <a:chExt cx="11038802" cy="5539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19400" y="4838700"/>
            <a:ext cx="53997" cy="378000"/>
            <a:chOff x="0" y="0"/>
            <a:chExt cx="71996" cy="50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093720" y="5373767"/>
            <a:ext cx="8279101" cy="415500"/>
            <a:chOff x="0" y="0"/>
            <a:chExt cx="11038802" cy="5539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2900" r="0" b="-5129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19400" y="5372100"/>
            <a:ext cx="53997" cy="378000"/>
            <a:chOff x="0" y="0"/>
            <a:chExt cx="71996" cy="50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093720" y="6059586"/>
            <a:ext cx="8279101" cy="415500"/>
            <a:chOff x="0" y="0"/>
            <a:chExt cx="11038802" cy="5539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42480">
            <a:off x="515950" y="4950752"/>
            <a:ext cx="4355287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666685" y="3650858"/>
            <a:ext cx="15966030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760" indent="-304380" lvl="1">
              <a:lnSpc>
                <a:spcPts val="3383"/>
              </a:lnSpc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Retage Wael                                                  </a:t>
            </a:r>
            <a:r>
              <a:rPr lang="en-US" sz="2819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         Data Ingestion</a:t>
            </a:r>
          </a:p>
          <a:p>
            <a:pPr algn="l">
              <a:lnSpc>
                <a:spcPts val="3383"/>
              </a:lnSpc>
            </a:pP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 marL="608760" indent="-304380" lvl="1">
              <a:lnSpc>
                <a:spcPts val="3383"/>
              </a:lnSpc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Yousef Michael                                                       </a:t>
            </a:r>
            <a:r>
              <a:rPr lang="en-US" sz="2819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Data Transformation, Data Orchestration</a:t>
            </a:r>
          </a:p>
          <a:p>
            <a:pPr algn="l">
              <a:lnSpc>
                <a:spcPts val="3383"/>
              </a:lnSpc>
            </a:pPr>
          </a:p>
          <a:p>
            <a:pPr algn="l" marL="608760" indent="-304380" lvl="1">
              <a:lnSpc>
                <a:spcPts val="3383"/>
              </a:lnSpc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Mohamed Sherif                                                     </a:t>
            </a:r>
            <a:r>
              <a:rPr lang="en-US" sz="2819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Data Warehousing, Data Orchestration</a:t>
            </a:r>
          </a:p>
          <a:p>
            <a:pPr algn="l">
              <a:lnSpc>
                <a:spcPts val="3383"/>
              </a:lnSpc>
            </a:pPr>
          </a:p>
          <a:p>
            <a:pPr algn="l" marL="608760" indent="-304380" lvl="1">
              <a:lnSpc>
                <a:spcPts val="3383"/>
              </a:lnSpc>
              <a:spcBef>
                <a:spcPct val="0"/>
              </a:spcBef>
              <a:buFont typeface="Arial"/>
              <a:buChar char="•"/>
            </a:pP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Amr Metwally                                                      </a:t>
            </a:r>
            <a:r>
              <a:rPr lang="en-US" sz="2819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   BI &amp; Analytics Integration</a:t>
            </a:r>
            <a:r>
              <a:rPr lang="en-US" sz="28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47419" y="6755771"/>
            <a:ext cx="4586011" cy="3531229"/>
          </a:xfrm>
          <a:custGeom>
            <a:avLst/>
            <a:gdLst/>
            <a:ahLst/>
            <a:cxnLst/>
            <a:rect r="r" b="b" t="t" l="l"/>
            <a:pathLst>
              <a:path h="3531229" w="4586011">
                <a:moveTo>
                  <a:pt x="0" y="0"/>
                </a:moveTo>
                <a:lnTo>
                  <a:pt x="4586011" y="0"/>
                </a:lnTo>
                <a:lnTo>
                  <a:pt x="4586011" y="3531229"/>
                </a:lnTo>
                <a:lnTo>
                  <a:pt x="0" y="3531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37607" y="1908239"/>
            <a:ext cx="189666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093720" y="6135786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19400" y="6134100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057437" y="1968589"/>
            <a:ext cx="0" cy="6463369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417528" y="1949539"/>
            <a:ext cx="17295857" cy="673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1"/>
              </a:lnSpc>
              <a:spcBef>
                <a:spcPct val="0"/>
              </a:spcBef>
            </a:pPr>
            <a:r>
              <a:rPr lang="en-US" b="true" sz="347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Connecting Patient Care to Actionable Insights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56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CONTEXT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 i="true" u="sng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Continuous Hospital Stream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Modern wards rely on continuous telemetry from smart bedside monitors, heart-rate sensors, and oxygen meters.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56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OBJECTIVE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 i="true" u="sng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Reliable Real-Time Data Streaming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high-availability pipeline that captures live patient telemetry without data loss, streaming seamlessly from devices to cloud storage for instant analysis.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56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BUSINESS VALUE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 i="true" u="sng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Clinical Efficiency &amp; Safety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5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Eliminates critical alert lags, optimizes bed management, and protects hospital reputation with 100% data auditability.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377355" y="-1294168"/>
            <a:ext cx="8222543" cy="4645737"/>
          </a:xfrm>
          <a:custGeom>
            <a:avLst/>
            <a:gdLst/>
            <a:ahLst/>
            <a:cxnLst/>
            <a:rect r="r" b="b" t="t" l="l"/>
            <a:pathLst>
              <a:path h="4645737" w="8222543">
                <a:moveTo>
                  <a:pt x="0" y="0"/>
                </a:moveTo>
                <a:lnTo>
                  <a:pt x="8222543" y="0"/>
                </a:lnTo>
                <a:lnTo>
                  <a:pt x="8222543" y="4645736"/>
                </a:lnTo>
                <a:lnTo>
                  <a:pt x="0" y="4645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7528" y="377995"/>
            <a:ext cx="10512904" cy="115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113151" y="6062529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6060862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113151" y="5405809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38831" y="5404123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244046" y="1787804"/>
            <a:ext cx="0" cy="692825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983391" y="3904483"/>
            <a:ext cx="7079092" cy="4811571"/>
          </a:xfrm>
          <a:custGeom>
            <a:avLst/>
            <a:gdLst/>
            <a:ahLst/>
            <a:cxnLst/>
            <a:rect r="r" b="b" t="t" l="l"/>
            <a:pathLst>
              <a:path h="4811571" w="7079092">
                <a:moveTo>
                  <a:pt x="0" y="0"/>
                </a:moveTo>
                <a:lnTo>
                  <a:pt x="7079092" y="0"/>
                </a:lnTo>
                <a:lnTo>
                  <a:pt x="7079092" y="4811571"/>
                </a:lnTo>
                <a:lnTo>
                  <a:pt x="0" y="4811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12222" y="3904483"/>
            <a:ext cx="7106320" cy="4811571"/>
          </a:xfrm>
          <a:custGeom>
            <a:avLst/>
            <a:gdLst/>
            <a:ahLst/>
            <a:cxnLst/>
            <a:rect r="r" b="b" t="t" l="l"/>
            <a:pathLst>
              <a:path h="4811571" w="7106320">
                <a:moveTo>
                  <a:pt x="0" y="0"/>
                </a:moveTo>
                <a:lnTo>
                  <a:pt x="7106320" y="0"/>
                </a:lnTo>
                <a:lnTo>
                  <a:pt x="7106320" y="4811571"/>
                </a:lnTo>
                <a:lnTo>
                  <a:pt x="0" y="481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50084" y="1137099"/>
            <a:ext cx="10512904" cy="115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44046" y="2200384"/>
            <a:ext cx="1563687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Solving</a:t>
            </a:r>
            <a:r>
              <a:rPr lang="en-US" sz="5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Real-Time Hospital Patient Monitoring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093720" y="6059586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42480">
            <a:off x="515950" y="4950752"/>
            <a:ext cx="4355287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343351" y="4646625"/>
            <a:ext cx="14174981" cy="2917619"/>
          </a:xfrm>
          <a:custGeom>
            <a:avLst/>
            <a:gdLst/>
            <a:ahLst/>
            <a:cxnLst/>
            <a:rect r="r" b="b" t="t" l="l"/>
            <a:pathLst>
              <a:path h="2917619" w="14174981">
                <a:moveTo>
                  <a:pt x="0" y="0"/>
                </a:moveTo>
                <a:lnTo>
                  <a:pt x="14174981" y="0"/>
                </a:lnTo>
                <a:lnTo>
                  <a:pt x="14174981" y="2917619"/>
                </a:lnTo>
                <a:lnTo>
                  <a:pt x="0" y="2917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7401" y="1908239"/>
            <a:ext cx="5526881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34249" y="2955989"/>
            <a:ext cx="1508408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En</a:t>
            </a:r>
            <a:r>
              <a:rPr lang="en-US" sz="5199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d-to-End Implementation Workflow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794077" y="7347143"/>
            <a:ext cx="5493923" cy="4972001"/>
          </a:xfrm>
          <a:custGeom>
            <a:avLst/>
            <a:gdLst/>
            <a:ahLst/>
            <a:cxnLst/>
            <a:rect r="r" b="b" t="t" l="l"/>
            <a:pathLst>
              <a:path h="4972001" w="5493923">
                <a:moveTo>
                  <a:pt x="0" y="0"/>
                </a:moveTo>
                <a:lnTo>
                  <a:pt x="5493923" y="0"/>
                </a:lnTo>
                <a:lnTo>
                  <a:pt x="5493923" y="4972001"/>
                </a:lnTo>
                <a:lnTo>
                  <a:pt x="0" y="4972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113151" y="6693208"/>
            <a:ext cx="8279101" cy="415500"/>
            <a:chOff x="0" y="0"/>
            <a:chExt cx="11038802" cy="553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553996"/>
            </a:xfrm>
            <a:custGeom>
              <a:avLst/>
              <a:gdLst/>
              <a:ahLst/>
              <a:cxnLst/>
              <a:rect r="r" b="b" t="t" l="l"/>
              <a:pathLst>
                <a:path h="553996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6"/>
                  </a:lnTo>
                  <a:lnTo>
                    <a:pt x="0" y="553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4" r="0" b="-3382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038802" cy="611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and Insights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13151" y="7880852"/>
            <a:ext cx="8279101" cy="415500"/>
            <a:chOff x="0" y="0"/>
            <a:chExt cx="11038802" cy="55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38831" y="7879166"/>
            <a:ext cx="53997" cy="378000"/>
            <a:chOff x="0" y="0"/>
            <a:chExt cx="71996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093720" y="6059586"/>
            <a:ext cx="8279101" cy="415500"/>
            <a:chOff x="0" y="0"/>
            <a:chExt cx="11038802" cy="5539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Tasks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6785" y="4359042"/>
            <a:ext cx="5239021" cy="1499361"/>
          </a:xfrm>
          <a:custGeom>
            <a:avLst/>
            <a:gdLst/>
            <a:ahLst/>
            <a:cxnLst/>
            <a:rect r="r" b="b" t="t" l="l"/>
            <a:pathLst>
              <a:path h="1499361" w="5239021">
                <a:moveTo>
                  <a:pt x="0" y="0"/>
                </a:moveTo>
                <a:lnTo>
                  <a:pt x="5239021" y="0"/>
                </a:lnTo>
                <a:lnTo>
                  <a:pt x="5239021" y="1499361"/>
                </a:lnTo>
                <a:lnTo>
                  <a:pt x="0" y="1499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6084" b="-1636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6785" y="7170399"/>
            <a:ext cx="5239021" cy="1529405"/>
          </a:xfrm>
          <a:custGeom>
            <a:avLst/>
            <a:gdLst/>
            <a:ahLst/>
            <a:cxnLst/>
            <a:rect r="r" b="b" t="t" l="l"/>
            <a:pathLst>
              <a:path h="1529405" w="5239021">
                <a:moveTo>
                  <a:pt x="0" y="0"/>
                </a:moveTo>
                <a:lnTo>
                  <a:pt x="5239021" y="0"/>
                </a:lnTo>
                <a:lnTo>
                  <a:pt x="5239021" y="1529405"/>
                </a:lnTo>
                <a:lnTo>
                  <a:pt x="0" y="15294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26" r="0" b="-272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43536" y="4405078"/>
            <a:ext cx="5637914" cy="1476844"/>
          </a:xfrm>
          <a:custGeom>
            <a:avLst/>
            <a:gdLst/>
            <a:ahLst/>
            <a:cxnLst/>
            <a:rect r="r" b="b" t="t" l="l"/>
            <a:pathLst>
              <a:path h="1476844" w="5637914">
                <a:moveTo>
                  <a:pt x="0" y="0"/>
                </a:moveTo>
                <a:lnTo>
                  <a:pt x="5637914" y="0"/>
                </a:lnTo>
                <a:lnTo>
                  <a:pt x="5637914" y="1476844"/>
                </a:lnTo>
                <a:lnTo>
                  <a:pt x="0" y="14768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402" r="0" b="-140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43536" y="7293920"/>
            <a:ext cx="5637914" cy="1450962"/>
          </a:xfrm>
          <a:custGeom>
            <a:avLst/>
            <a:gdLst/>
            <a:ahLst/>
            <a:cxnLst/>
            <a:rect r="r" b="b" t="t" l="l"/>
            <a:pathLst>
              <a:path h="1450962" w="5637914">
                <a:moveTo>
                  <a:pt x="0" y="0"/>
                </a:moveTo>
                <a:lnTo>
                  <a:pt x="5637914" y="0"/>
                </a:lnTo>
                <a:lnTo>
                  <a:pt x="5637914" y="1450963"/>
                </a:lnTo>
                <a:lnTo>
                  <a:pt x="0" y="14509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080" r="-2398" b="-89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86250" y="4517669"/>
            <a:ext cx="6190247" cy="1364253"/>
          </a:xfrm>
          <a:custGeom>
            <a:avLst/>
            <a:gdLst/>
            <a:ahLst/>
            <a:cxnLst/>
            <a:rect r="r" b="b" t="t" l="l"/>
            <a:pathLst>
              <a:path h="1364253" w="6190247">
                <a:moveTo>
                  <a:pt x="0" y="0"/>
                </a:moveTo>
                <a:lnTo>
                  <a:pt x="6190247" y="0"/>
                </a:lnTo>
                <a:lnTo>
                  <a:pt x="6190247" y="1364253"/>
                </a:lnTo>
                <a:lnTo>
                  <a:pt x="0" y="1364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03" r="-3204" b="-70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61308" y="7369556"/>
            <a:ext cx="6040131" cy="1131092"/>
          </a:xfrm>
          <a:custGeom>
            <a:avLst/>
            <a:gdLst/>
            <a:ahLst/>
            <a:cxnLst/>
            <a:rect r="r" b="b" t="t" l="l"/>
            <a:pathLst>
              <a:path h="1131092" w="6040131">
                <a:moveTo>
                  <a:pt x="0" y="0"/>
                </a:moveTo>
                <a:lnTo>
                  <a:pt x="6040131" y="0"/>
                </a:lnTo>
                <a:lnTo>
                  <a:pt x="6040131" y="1131092"/>
                </a:lnTo>
                <a:lnTo>
                  <a:pt x="0" y="11310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488" r="0" b="-1036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74959" y="1997072"/>
            <a:ext cx="4586350" cy="2361970"/>
          </a:xfrm>
          <a:custGeom>
            <a:avLst/>
            <a:gdLst/>
            <a:ahLst/>
            <a:cxnLst/>
            <a:rect r="r" b="b" t="t" l="l"/>
            <a:pathLst>
              <a:path h="2361970" w="4586350">
                <a:moveTo>
                  <a:pt x="0" y="0"/>
                </a:moveTo>
                <a:lnTo>
                  <a:pt x="4586349" y="0"/>
                </a:lnTo>
                <a:lnTo>
                  <a:pt x="4586349" y="2361970"/>
                </a:lnTo>
                <a:lnTo>
                  <a:pt x="0" y="23619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82040" y="2531745"/>
            <a:ext cx="577244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Generation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398075"/>
            <a:ext cx="9922591" cy="1530758"/>
          </a:xfrm>
          <a:custGeom>
            <a:avLst/>
            <a:gdLst/>
            <a:ahLst/>
            <a:cxnLst/>
            <a:rect r="r" b="b" t="t" l="l"/>
            <a:pathLst>
              <a:path h="1530758" w="9922591">
                <a:moveTo>
                  <a:pt x="0" y="0"/>
                </a:moveTo>
                <a:lnTo>
                  <a:pt x="9922591" y="0"/>
                </a:lnTo>
                <a:lnTo>
                  <a:pt x="9922591" y="1530758"/>
                </a:lnTo>
                <a:lnTo>
                  <a:pt x="0" y="1530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241132"/>
            <a:ext cx="9922591" cy="1603926"/>
          </a:xfrm>
          <a:custGeom>
            <a:avLst/>
            <a:gdLst/>
            <a:ahLst/>
            <a:cxnLst/>
            <a:rect r="r" b="b" t="t" l="l"/>
            <a:pathLst>
              <a:path h="1603926" w="9922591">
                <a:moveTo>
                  <a:pt x="0" y="0"/>
                </a:moveTo>
                <a:lnTo>
                  <a:pt x="9922591" y="0"/>
                </a:lnTo>
                <a:lnTo>
                  <a:pt x="9922591" y="1603926"/>
                </a:lnTo>
                <a:lnTo>
                  <a:pt x="0" y="1603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157358"/>
            <a:ext cx="9922591" cy="1666020"/>
          </a:xfrm>
          <a:custGeom>
            <a:avLst/>
            <a:gdLst/>
            <a:ahLst/>
            <a:cxnLst/>
            <a:rect r="r" b="b" t="t" l="l"/>
            <a:pathLst>
              <a:path h="1666020" w="9922591">
                <a:moveTo>
                  <a:pt x="0" y="0"/>
                </a:moveTo>
                <a:lnTo>
                  <a:pt x="9922591" y="0"/>
                </a:lnTo>
                <a:lnTo>
                  <a:pt x="9922591" y="1666019"/>
                </a:lnTo>
                <a:lnTo>
                  <a:pt x="0" y="166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14" t="-1324" r="0" b="-132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20143" y="4398075"/>
            <a:ext cx="4715726" cy="5425302"/>
          </a:xfrm>
          <a:custGeom>
            <a:avLst/>
            <a:gdLst/>
            <a:ahLst/>
            <a:cxnLst/>
            <a:rect r="r" b="b" t="t" l="l"/>
            <a:pathLst>
              <a:path h="5425302" w="4715726">
                <a:moveTo>
                  <a:pt x="0" y="0"/>
                </a:moveTo>
                <a:lnTo>
                  <a:pt x="4715725" y="0"/>
                </a:lnTo>
                <a:lnTo>
                  <a:pt x="4715725" y="5425302"/>
                </a:lnTo>
                <a:lnTo>
                  <a:pt x="0" y="54253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66390" y="8622560"/>
            <a:ext cx="2621610" cy="1271481"/>
          </a:xfrm>
          <a:custGeom>
            <a:avLst/>
            <a:gdLst/>
            <a:ahLst/>
            <a:cxnLst/>
            <a:rect r="r" b="b" t="t" l="l"/>
            <a:pathLst>
              <a:path h="1271481" w="2621610">
                <a:moveTo>
                  <a:pt x="0" y="0"/>
                </a:moveTo>
                <a:lnTo>
                  <a:pt x="2621610" y="0"/>
                </a:lnTo>
                <a:lnTo>
                  <a:pt x="2621610" y="1271480"/>
                </a:lnTo>
                <a:lnTo>
                  <a:pt x="0" y="12714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5810" y="2284095"/>
            <a:ext cx="9037320" cy="115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Ingestion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810" y="3348276"/>
            <a:ext cx="11104333" cy="154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aming Ingestion Engine (Kafka to S3)</a:t>
            </a:r>
          </a:p>
          <a:p>
            <a:pPr algn="l">
              <a:lnSpc>
                <a:spcPts val="620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5810" y="5756577"/>
            <a:ext cx="5721767" cy="2904034"/>
          </a:xfrm>
          <a:custGeom>
            <a:avLst/>
            <a:gdLst/>
            <a:ahLst/>
            <a:cxnLst/>
            <a:rect r="r" b="b" t="t" l="l"/>
            <a:pathLst>
              <a:path h="2904034" w="5721767">
                <a:moveTo>
                  <a:pt x="0" y="0"/>
                </a:moveTo>
                <a:lnTo>
                  <a:pt x="5721766" y="0"/>
                </a:lnTo>
                <a:lnTo>
                  <a:pt x="5721766" y="2904034"/>
                </a:lnTo>
                <a:lnTo>
                  <a:pt x="0" y="29040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80" t="-9035" r="-1290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81216" y="5756577"/>
            <a:ext cx="5033385" cy="2858837"/>
          </a:xfrm>
          <a:custGeom>
            <a:avLst/>
            <a:gdLst/>
            <a:ahLst/>
            <a:cxnLst/>
            <a:rect r="r" b="b" t="t" l="l"/>
            <a:pathLst>
              <a:path h="2858837" w="5033385">
                <a:moveTo>
                  <a:pt x="0" y="0"/>
                </a:moveTo>
                <a:lnTo>
                  <a:pt x="5033386" y="0"/>
                </a:lnTo>
                <a:lnTo>
                  <a:pt x="5033386" y="2858837"/>
                </a:lnTo>
                <a:lnTo>
                  <a:pt x="0" y="28588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909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62252" y="5756577"/>
            <a:ext cx="5925814" cy="2858837"/>
          </a:xfrm>
          <a:custGeom>
            <a:avLst/>
            <a:gdLst/>
            <a:ahLst/>
            <a:cxnLst/>
            <a:rect r="r" b="b" t="t" l="l"/>
            <a:pathLst>
              <a:path h="2858837" w="5925814">
                <a:moveTo>
                  <a:pt x="0" y="0"/>
                </a:moveTo>
                <a:lnTo>
                  <a:pt x="5925814" y="0"/>
                </a:lnTo>
                <a:lnTo>
                  <a:pt x="5925814" y="2858837"/>
                </a:lnTo>
                <a:lnTo>
                  <a:pt x="0" y="28588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89" t="0" r="-28659" b="-909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35097" y="1825139"/>
            <a:ext cx="2952969" cy="3262949"/>
          </a:xfrm>
          <a:custGeom>
            <a:avLst/>
            <a:gdLst/>
            <a:ahLst/>
            <a:cxnLst/>
            <a:rect r="r" b="b" t="t" l="l"/>
            <a:pathLst>
              <a:path h="3262949" w="2952969">
                <a:moveTo>
                  <a:pt x="0" y="0"/>
                </a:moveTo>
                <a:lnTo>
                  <a:pt x="2952969" y="0"/>
                </a:lnTo>
                <a:lnTo>
                  <a:pt x="2952969" y="3262949"/>
                </a:lnTo>
                <a:lnTo>
                  <a:pt x="0" y="3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5810" y="2531745"/>
            <a:ext cx="725328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Transformation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810" y="3595926"/>
            <a:ext cx="11523551" cy="154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Lakehouse Architecture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Early Validation</a:t>
            </a:r>
          </a:p>
          <a:p>
            <a:pPr algn="l">
              <a:lnSpc>
                <a:spcPts val="620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5460" y="4166913"/>
            <a:ext cx="16877079" cy="1953175"/>
          </a:xfrm>
          <a:custGeom>
            <a:avLst/>
            <a:gdLst/>
            <a:ahLst/>
            <a:cxnLst/>
            <a:rect r="r" b="b" t="t" l="l"/>
            <a:pathLst>
              <a:path h="1953175" w="16877079">
                <a:moveTo>
                  <a:pt x="0" y="0"/>
                </a:moveTo>
                <a:lnTo>
                  <a:pt x="16877080" y="0"/>
                </a:lnTo>
                <a:lnTo>
                  <a:pt x="16877080" y="1953174"/>
                </a:lnTo>
                <a:lnTo>
                  <a:pt x="0" y="19531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9025" y="6851812"/>
            <a:ext cx="16877079" cy="2749331"/>
          </a:xfrm>
          <a:custGeom>
            <a:avLst/>
            <a:gdLst/>
            <a:ahLst/>
            <a:cxnLst/>
            <a:rect r="r" b="b" t="t" l="l"/>
            <a:pathLst>
              <a:path h="2749331" w="16877079">
                <a:moveTo>
                  <a:pt x="0" y="0"/>
                </a:moveTo>
                <a:lnTo>
                  <a:pt x="16877079" y="0"/>
                </a:lnTo>
                <a:lnTo>
                  <a:pt x="16877079" y="2749331"/>
                </a:lnTo>
                <a:lnTo>
                  <a:pt x="0" y="2749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9025" y="1663260"/>
            <a:ext cx="725328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Transformation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9025" y="2711010"/>
            <a:ext cx="11974195" cy="154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ilver-to-Gold Analytical Marts (5 Datasets)</a:t>
            </a:r>
          </a:p>
          <a:p>
            <a:pPr algn="l">
              <a:lnSpc>
                <a:spcPts val="620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5424" y="2999822"/>
            <a:ext cx="2834640" cy="2331720"/>
            <a:chOff x="0" y="0"/>
            <a:chExt cx="3779520" cy="3108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7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77952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624072" y="0"/>
                  </a:lnTo>
                  <a:cubicBezTo>
                    <a:pt x="3709924" y="0"/>
                    <a:pt x="3779520" y="69596"/>
                    <a:pt x="3779520" y="155448"/>
                  </a:cubicBezTo>
                  <a:lnTo>
                    <a:pt x="3779520" y="2953512"/>
                  </a:lnTo>
                  <a:cubicBezTo>
                    <a:pt x="3779520" y="3039364"/>
                    <a:pt x="3709924" y="3108960"/>
                    <a:pt x="3624072" y="3108960"/>
                  </a:cubicBezTo>
                  <a:lnTo>
                    <a:pt x="155448" y="3108960"/>
                  </a:lnTo>
                  <a:cubicBezTo>
                    <a:pt x="69596" y="3108960"/>
                    <a:pt x="0" y="3039364"/>
                    <a:pt x="0" y="2953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79520" cy="316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S3 Silver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93E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Parquet datasets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91509" y="3982802"/>
            <a:ext cx="411480" cy="365760"/>
            <a:chOff x="0" y="0"/>
            <a:chExt cx="548640" cy="48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">
                  <a:moveTo>
                    <a:pt x="0" y="121920"/>
                  </a:moveTo>
                  <a:lnTo>
                    <a:pt x="304800" y="121920"/>
                  </a:lnTo>
                  <a:lnTo>
                    <a:pt x="304800" y="0"/>
                  </a:lnTo>
                  <a:lnTo>
                    <a:pt x="548640" y="243840"/>
                  </a:lnTo>
                  <a:lnTo>
                    <a:pt x="304800" y="487680"/>
                  </a:lnTo>
                  <a:lnTo>
                    <a:pt x="304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234434" y="2999822"/>
            <a:ext cx="2834640" cy="2331720"/>
            <a:chOff x="0" y="0"/>
            <a:chExt cx="3779520" cy="3108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7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77952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624072" y="0"/>
                  </a:lnTo>
                  <a:cubicBezTo>
                    <a:pt x="3709924" y="0"/>
                    <a:pt x="3779520" y="69596"/>
                    <a:pt x="3779520" y="155448"/>
                  </a:cubicBezTo>
                  <a:lnTo>
                    <a:pt x="3779520" y="2953512"/>
                  </a:lnTo>
                  <a:cubicBezTo>
                    <a:pt x="3779520" y="3039364"/>
                    <a:pt x="3709924" y="3108960"/>
                    <a:pt x="3624072" y="3108960"/>
                  </a:cubicBezTo>
                  <a:lnTo>
                    <a:pt x="155448" y="3108960"/>
                  </a:lnTo>
                  <a:cubicBezTo>
                    <a:pt x="69596" y="3108960"/>
                    <a:pt x="0" y="3039364"/>
                    <a:pt x="0" y="2953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779520" cy="316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93E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tables loaded as-is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00519" y="3982802"/>
            <a:ext cx="411480" cy="365760"/>
            <a:chOff x="0" y="0"/>
            <a:chExt cx="548640" cy="487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">
                  <a:moveTo>
                    <a:pt x="0" y="121920"/>
                  </a:moveTo>
                  <a:lnTo>
                    <a:pt x="304800" y="121920"/>
                  </a:lnTo>
                  <a:lnTo>
                    <a:pt x="304800" y="0"/>
                  </a:lnTo>
                  <a:lnTo>
                    <a:pt x="548640" y="243840"/>
                  </a:lnTo>
                  <a:lnTo>
                    <a:pt x="304800" y="487680"/>
                  </a:lnTo>
                  <a:lnTo>
                    <a:pt x="304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743444" y="2999822"/>
            <a:ext cx="2834640" cy="2331720"/>
            <a:chOff x="0" y="0"/>
            <a:chExt cx="3779520" cy="3108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77952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624072" y="0"/>
                  </a:lnTo>
                  <a:cubicBezTo>
                    <a:pt x="3709924" y="0"/>
                    <a:pt x="3779520" y="69596"/>
                    <a:pt x="3779520" y="155448"/>
                  </a:cubicBezTo>
                  <a:lnTo>
                    <a:pt x="3779520" y="2953512"/>
                  </a:lnTo>
                  <a:cubicBezTo>
                    <a:pt x="3779520" y="3039364"/>
                    <a:pt x="3709924" y="3108960"/>
                    <a:pt x="3624072" y="3108960"/>
                  </a:cubicBezTo>
                  <a:lnTo>
                    <a:pt x="155448" y="3108960"/>
                  </a:lnTo>
                  <a:cubicBezTo>
                    <a:pt x="69596" y="3108960"/>
                    <a:pt x="0" y="3039364"/>
                    <a:pt x="0" y="2953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779520" cy="316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STAGING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93E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typed views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709529" y="3982802"/>
            <a:ext cx="411480" cy="365760"/>
            <a:chOff x="0" y="0"/>
            <a:chExt cx="548640" cy="487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">
                  <a:moveTo>
                    <a:pt x="0" y="121920"/>
                  </a:moveTo>
                  <a:lnTo>
                    <a:pt x="304800" y="121920"/>
                  </a:lnTo>
                  <a:lnTo>
                    <a:pt x="304800" y="0"/>
                  </a:lnTo>
                  <a:lnTo>
                    <a:pt x="548640" y="243840"/>
                  </a:lnTo>
                  <a:lnTo>
                    <a:pt x="304800" y="487680"/>
                  </a:lnTo>
                  <a:lnTo>
                    <a:pt x="304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252454" y="2999822"/>
            <a:ext cx="2834640" cy="2331720"/>
            <a:chOff x="0" y="0"/>
            <a:chExt cx="3779520" cy="3108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7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77952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624072" y="0"/>
                  </a:lnTo>
                  <a:cubicBezTo>
                    <a:pt x="3709924" y="0"/>
                    <a:pt x="3779520" y="69596"/>
                    <a:pt x="3779520" y="155448"/>
                  </a:cubicBezTo>
                  <a:lnTo>
                    <a:pt x="3779520" y="2953512"/>
                  </a:lnTo>
                  <a:cubicBezTo>
                    <a:pt x="3779520" y="3039364"/>
                    <a:pt x="3709924" y="3108960"/>
                    <a:pt x="3624072" y="3108960"/>
                  </a:cubicBezTo>
                  <a:lnTo>
                    <a:pt x="155448" y="3108960"/>
                  </a:lnTo>
                  <a:cubicBezTo>
                    <a:pt x="69596" y="3108960"/>
                    <a:pt x="0" y="3039364"/>
                    <a:pt x="0" y="2953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779520" cy="316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INTERMEDIATE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93E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context-enriched views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218539" y="3982802"/>
            <a:ext cx="411480" cy="365760"/>
            <a:chOff x="0" y="0"/>
            <a:chExt cx="548640" cy="487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">
                  <a:moveTo>
                    <a:pt x="0" y="121920"/>
                  </a:moveTo>
                  <a:lnTo>
                    <a:pt x="304800" y="121920"/>
                  </a:lnTo>
                  <a:lnTo>
                    <a:pt x="304800" y="0"/>
                  </a:lnTo>
                  <a:lnTo>
                    <a:pt x="548640" y="243840"/>
                  </a:lnTo>
                  <a:lnTo>
                    <a:pt x="304800" y="487680"/>
                  </a:lnTo>
                  <a:lnTo>
                    <a:pt x="304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761464" y="2999822"/>
            <a:ext cx="2834640" cy="2331720"/>
            <a:chOff x="0" y="0"/>
            <a:chExt cx="3779520" cy="3108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7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77952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3624072" y="0"/>
                  </a:lnTo>
                  <a:cubicBezTo>
                    <a:pt x="3709924" y="0"/>
                    <a:pt x="3779520" y="69596"/>
                    <a:pt x="3779520" y="155448"/>
                  </a:cubicBezTo>
                  <a:lnTo>
                    <a:pt x="3779520" y="2953512"/>
                  </a:lnTo>
                  <a:cubicBezTo>
                    <a:pt x="3779520" y="3039364"/>
                    <a:pt x="3709924" y="3108960"/>
                    <a:pt x="3624072" y="3108960"/>
                  </a:cubicBezTo>
                  <a:lnTo>
                    <a:pt x="155448" y="3108960"/>
                  </a:lnTo>
                  <a:cubicBezTo>
                    <a:pt x="69596" y="3108960"/>
                    <a:pt x="0" y="3039364"/>
                    <a:pt x="0" y="2953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3779520" cy="316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MARTS</a:t>
              </a:r>
            </a:p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193E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dimensions + 5 facts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4382627" y="5502992"/>
            <a:ext cx="9594374" cy="4720560"/>
          </a:xfrm>
          <a:custGeom>
            <a:avLst/>
            <a:gdLst/>
            <a:ahLst/>
            <a:cxnLst/>
            <a:rect r="r" b="b" t="t" l="l"/>
            <a:pathLst>
              <a:path h="4720560" w="9594374">
                <a:moveTo>
                  <a:pt x="0" y="0"/>
                </a:moveTo>
                <a:lnTo>
                  <a:pt x="9594374" y="0"/>
                </a:lnTo>
                <a:lnTo>
                  <a:pt x="9594374" y="4720560"/>
                </a:lnTo>
                <a:lnTo>
                  <a:pt x="0" y="4720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66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119619" y="7756366"/>
            <a:ext cx="1961413" cy="2467186"/>
          </a:xfrm>
          <a:custGeom>
            <a:avLst/>
            <a:gdLst/>
            <a:ahLst/>
            <a:cxnLst/>
            <a:rect r="r" b="b" t="t" l="l"/>
            <a:pathLst>
              <a:path h="2467186" w="1961413">
                <a:moveTo>
                  <a:pt x="0" y="0"/>
                </a:moveTo>
                <a:lnTo>
                  <a:pt x="1961413" y="0"/>
                </a:lnTo>
                <a:lnTo>
                  <a:pt x="1961413" y="2467186"/>
                </a:lnTo>
                <a:lnTo>
                  <a:pt x="0" y="24671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35789" y="1013774"/>
            <a:ext cx="583596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Warehouse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5789" y="2061524"/>
            <a:ext cx="9239424" cy="76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S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ilver to Snowflake with dbt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228737" y="3396337"/>
            <a:ext cx="3781765" cy="973836"/>
            <a:chOff x="0" y="0"/>
            <a:chExt cx="5042353" cy="1298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2353" cy="1298448"/>
            </a:xfrm>
            <a:custGeom>
              <a:avLst/>
              <a:gdLst/>
              <a:ahLst/>
              <a:cxnLst/>
              <a:rect r="r" b="b" t="t" l="l"/>
              <a:pathLst>
                <a:path h="1298448" w="5042353">
                  <a:moveTo>
                    <a:pt x="0" y="64922"/>
                  </a:moveTo>
                  <a:cubicBezTo>
                    <a:pt x="0" y="29080"/>
                    <a:pt x="28232" y="0"/>
                    <a:pt x="63029" y="0"/>
                  </a:cubicBezTo>
                  <a:lnTo>
                    <a:pt x="4979324" y="0"/>
                  </a:lnTo>
                  <a:cubicBezTo>
                    <a:pt x="5014121" y="0"/>
                    <a:pt x="5042353" y="29080"/>
                    <a:pt x="5042353" y="64922"/>
                  </a:cubicBezTo>
                  <a:lnTo>
                    <a:pt x="5042353" y="1233526"/>
                  </a:lnTo>
                  <a:cubicBezTo>
                    <a:pt x="5042353" y="1269368"/>
                    <a:pt x="5014121" y="1298448"/>
                    <a:pt x="4979324" y="1298448"/>
                  </a:cubicBezTo>
                  <a:lnTo>
                    <a:pt x="63029" y="1298448"/>
                  </a:lnTo>
                  <a:cubicBezTo>
                    <a:pt x="28232" y="1298448"/>
                    <a:pt x="0" y="1269368"/>
                    <a:pt x="0" y="1233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042353" cy="1355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facts share 7 dimensions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28737" y="6004511"/>
            <a:ext cx="3781765" cy="973836"/>
            <a:chOff x="0" y="0"/>
            <a:chExt cx="5042353" cy="12984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42353" cy="1298448"/>
            </a:xfrm>
            <a:custGeom>
              <a:avLst/>
              <a:gdLst/>
              <a:ahLst/>
              <a:cxnLst/>
              <a:rect r="r" b="b" t="t" l="l"/>
              <a:pathLst>
                <a:path h="1298448" w="5042353">
                  <a:moveTo>
                    <a:pt x="0" y="64922"/>
                  </a:moveTo>
                  <a:cubicBezTo>
                    <a:pt x="0" y="29080"/>
                    <a:pt x="28232" y="0"/>
                    <a:pt x="63029" y="0"/>
                  </a:cubicBezTo>
                  <a:lnTo>
                    <a:pt x="4979324" y="0"/>
                  </a:lnTo>
                  <a:cubicBezTo>
                    <a:pt x="5014121" y="0"/>
                    <a:pt x="5042353" y="29080"/>
                    <a:pt x="5042353" y="64922"/>
                  </a:cubicBezTo>
                  <a:lnTo>
                    <a:pt x="5042353" y="1233526"/>
                  </a:lnTo>
                  <a:cubicBezTo>
                    <a:pt x="5042353" y="1269368"/>
                    <a:pt x="5014121" y="1298448"/>
                    <a:pt x="4979324" y="1298448"/>
                  </a:cubicBezTo>
                  <a:lnTo>
                    <a:pt x="63029" y="1298448"/>
                  </a:lnTo>
                  <a:cubicBezTo>
                    <a:pt x="28232" y="1298448"/>
                    <a:pt x="0" y="1269368"/>
                    <a:pt x="0" y="1233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42353" cy="1355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Point-in-time context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228737" y="8612685"/>
            <a:ext cx="3781765" cy="973836"/>
            <a:chOff x="0" y="0"/>
            <a:chExt cx="5042353" cy="1298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42353" cy="1298448"/>
            </a:xfrm>
            <a:custGeom>
              <a:avLst/>
              <a:gdLst/>
              <a:ahLst/>
              <a:cxnLst/>
              <a:rect r="r" b="b" t="t" l="l"/>
              <a:pathLst>
                <a:path h="1298448" w="5042353">
                  <a:moveTo>
                    <a:pt x="0" y="64922"/>
                  </a:moveTo>
                  <a:cubicBezTo>
                    <a:pt x="0" y="29080"/>
                    <a:pt x="28232" y="0"/>
                    <a:pt x="63029" y="0"/>
                  </a:cubicBezTo>
                  <a:lnTo>
                    <a:pt x="4979324" y="0"/>
                  </a:lnTo>
                  <a:cubicBezTo>
                    <a:pt x="5014121" y="0"/>
                    <a:pt x="5042353" y="29080"/>
                    <a:pt x="5042353" y="64922"/>
                  </a:cubicBezTo>
                  <a:lnTo>
                    <a:pt x="5042353" y="1233526"/>
                  </a:lnTo>
                  <a:cubicBezTo>
                    <a:pt x="5042353" y="1269368"/>
                    <a:pt x="5014121" y="1298448"/>
                    <a:pt x="4979324" y="1298448"/>
                  </a:cubicBezTo>
                  <a:lnTo>
                    <a:pt x="63029" y="1298448"/>
                  </a:lnTo>
                  <a:cubicBezTo>
                    <a:pt x="28232" y="1298448"/>
                    <a:pt x="0" y="1269368"/>
                    <a:pt x="0" y="1233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042353" cy="1355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UNKNOWN rows 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7150" y="3396337"/>
            <a:ext cx="13882399" cy="6190184"/>
          </a:xfrm>
          <a:custGeom>
            <a:avLst/>
            <a:gdLst/>
            <a:ahLst/>
            <a:cxnLst/>
            <a:rect r="r" b="b" t="t" l="l"/>
            <a:pathLst>
              <a:path h="6190184" w="13882399">
                <a:moveTo>
                  <a:pt x="0" y="0"/>
                </a:moveTo>
                <a:lnTo>
                  <a:pt x="13882399" y="0"/>
                </a:lnTo>
                <a:lnTo>
                  <a:pt x="13882399" y="6190184"/>
                </a:lnTo>
                <a:lnTo>
                  <a:pt x="0" y="6190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16" t="-7541" r="-3357" b="-812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5810" y="1013774"/>
            <a:ext cx="583596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Warehouse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5810" y="2061524"/>
            <a:ext cx="9828274" cy="76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Galaxy Sch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 for Device Analytics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8486" y="4421501"/>
            <a:ext cx="8372095" cy="1234440"/>
            <a:chOff x="0" y="0"/>
            <a:chExt cx="11162793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62793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162793">
                  <a:moveTo>
                    <a:pt x="0" y="82296"/>
                  </a:moveTo>
                  <a:cubicBezTo>
                    <a:pt x="0" y="36830"/>
                    <a:pt x="34062" y="0"/>
                    <a:pt x="76110" y="0"/>
                  </a:cubicBezTo>
                  <a:lnTo>
                    <a:pt x="11086683" y="0"/>
                  </a:lnTo>
                  <a:cubicBezTo>
                    <a:pt x="11128732" y="0"/>
                    <a:pt x="11162793" y="36830"/>
                    <a:pt x="11162793" y="82296"/>
                  </a:cubicBezTo>
                  <a:lnTo>
                    <a:pt x="11162793" y="1563624"/>
                  </a:lnTo>
                  <a:cubicBezTo>
                    <a:pt x="11162793" y="1609090"/>
                    <a:pt x="11128732" y="1645920"/>
                    <a:pt x="11086683" y="1645920"/>
                  </a:cubicBezTo>
                  <a:lnTo>
                    <a:pt x="76110" y="1645920"/>
                  </a:lnTo>
                  <a:cubicBezTo>
                    <a:pt x="34062" y="1645920"/>
                    <a:pt x="0" y="1609090"/>
                    <a:pt x="0" y="15636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162793" cy="1703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Which devices disconnect most, and in which bed?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Device events and daily device health  |  Biomedical engineering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24009" y="4421501"/>
            <a:ext cx="8372095" cy="1234440"/>
            <a:chOff x="0" y="0"/>
            <a:chExt cx="11162793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2793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162793">
                  <a:moveTo>
                    <a:pt x="0" y="82296"/>
                  </a:moveTo>
                  <a:cubicBezTo>
                    <a:pt x="0" y="36830"/>
                    <a:pt x="34062" y="0"/>
                    <a:pt x="76110" y="0"/>
                  </a:cubicBezTo>
                  <a:lnTo>
                    <a:pt x="11086683" y="0"/>
                  </a:lnTo>
                  <a:cubicBezTo>
                    <a:pt x="11128732" y="0"/>
                    <a:pt x="11162793" y="36830"/>
                    <a:pt x="11162793" y="82296"/>
                  </a:cubicBezTo>
                  <a:lnTo>
                    <a:pt x="11162793" y="1563624"/>
                  </a:lnTo>
                  <a:cubicBezTo>
                    <a:pt x="11162793" y="1609090"/>
                    <a:pt x="11128732" y="1645920"/>
                    <a:pt x="11086683" y="1645920"/>
                  </a:cubicBezTo>
                  <a:lnTo>
                    <a:pt x="76110" y="1645920"/>
                  </a:lnTo>
                  <a:cubicBezTo>
                    <a:pt x="34062" y="1645920"/>
                    <a:pt x="0" y="1609090"/>
                    <a:pt x="0" y="15636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162793" cy="1703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Which readings breach a threshold, and how severe?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Threshold alerts  |  Authorised monitoring staff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8486" y="7258548"/>
            <a:ext cx="8372095" cy="1234440"/>
            <a:chOff x="0" y="0"/>
            <a:chExt cx="11162793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62793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162793">
                  <a:moveTo>
                    <a:pt x="0" y="82296"/>
                  </a:moveTo>
                  <a:cubicBezTo>
                    <a:pt x="0" y="36830"/>
                    <a:pt x="34062" y="0"/>
                    <a:pt x="76110" y="0"/>
                  </a:cubicBezTo>
                  <a:lnTo>
                    <a:pt x="11086683" y="0"/>
                  </a:lnTo>
                  <a:cubicBezTo>
                    <a:pt x="11128732" y="0"/>
                    <a:pt x="11162793" y="36830"/>
                    <a:pt x="11162793" y="82296"/>
                  </a:cubicBezTo>
                  <a:lnTo>
                    <a:pt x="11162793" y="1563624"/>
                  </a:lnTo>
                  <a:cubicBezTo>
                    <a:pt x="11162793" y="1609090"/>
                    <a:pt x="11128732" y="1645920"/>
                    <a:pt x="11086683" y="1645920"/>
                  </a:cubicBezTo>
                  <a:lnTo>
                    <a:pt x="76110" y="1645920"/>
                  </a:lnTo>
                  <a:cubicBezTo>
                    <a:pt x="34062" y="1645920"/>
                    <a:pt x="0" y="1609090"/>
                    <a:pt x="0" y="15636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162793" cy="1703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did a device go quiet while on a patient?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Readings with missing values  |  Operations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24009" y="7258548"/>
            <a:ext cx="8372095" cy="1234440"/>
            <a:chOff x="0" y="0"/>
            <a:chExt cx="11162793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62793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162793">
                  <a:moveTo>
                    <a:pt x="0" y="82296"/>
                  </a:moveTo>
                  <a:cubicBezTo>
                    <a:pt x="0" y="36830"/>
                    <a:pt x="34062" y="0"/>
                    <a:pt x="76110" y="0"/>
                  </a:cubicBezTo>
                  <a:lnTo>
                    <a:pt x="11086683" y="0"/>
                  </a:lnTo>
                  <a:cubicBezTo>
                    <a:pt x="11128732" y="0"/>
                    <a:pt x="11162793" y="36830"/>
                    <a:pt x="11162793" y="82296"/>
                  </a:cubicBezTo>
                  <a:lnTo>
                    <a:pt x="11162793" y="1563624"/>
                  </a:lnTo>
                  <a:cubicBezTo>
                    <a:pt x="11162793" y="1609090"/>
                    <a:pt x="11128732" y="1645920"/>
                    <a:pt x="11086683" y="1645920"/>
                  </a:cubicBezTo>
                  <a:lnTo>
                    <a:pt x="76110" y="1645920"/>
                  </a:lnTo>
                  <a:cubicBezTo>
                    <a:pt x="34062" y="1645920"/>
                    <a:pt x="0" y="1609090"/>
                    <a:pt x="0" y="15636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162793" cy="1703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F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full is each ward?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8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occupancy snapshot  |  Hospital management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302477" y="7450753"/>
            <a:ext cx="2985523" cy="2836247"/>
          </a:xfrm>
          <a:custGeom>
            <a:avLst/>
            <a:gdLst/>
            <a:ahLst/>
            <a:cxnLst/>
            <a:rect r="r" b="b" t="t" l="l"/>
            <a:pathLst>
              <a:path h="2836247" w="2985523">
                <a:moveTo>
                  <a:pt x="0" y="0"/>
                </a:moveTo>
                <a:lnTo>
                  <a:pt x="2985523" y="0"/>
                </a:lnTo>
                <a:lnTo>
                  <a:pt x="2985523" y="2836247"/>
                </a:lnTo>
                <a:lnTo>
                  <a:pt x="0" y="28362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15810" y="1694239"/>
            <a:ext cx="583596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Warehouse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5810" y="2741989"/>
            <a:ext cx="8120879" cy="76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443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th</a:t>
            </a:r>
            <a:r>
              <a:rPr lang="en-US" b="true" sz="443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Warehouse Answers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1322" y="3064785"/>
            <a:ext cx="3919559" cy="1855314"/>
          </a:xfrm>
          <a:custGeom>
            <a:avLst/>
            <a:gdLst/>
            <a:ahLst/>
            <a:cxnLst/>
            <a:rect r="r" b="b" t="t" l="l"/>
            <a:pathLst>
              <a:path h="1855314" w="3919559">
                <a:moveTo>
                  <a:pt x="0" y="0"/>
                </a:moveTo>
                <a:lnTo>
                  <a:pt x="3919558" y="0"/>
                </a:lnTo>
                <a:lnTo>
                  <a:pt x="3919558" y="1855314"/>
                </a:lnTo>
                <a:lnTo>
                  <a:pt x="0" y="1855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20147" y="3064785"/>
            <a:ext cx="4156842" cy="1855314"/>
          </a:xfrm>
          <a:custGeom>
            <a:avLst/>
            <a:gdLst/>
            <a:ahLst/>
            <a:cxnLst/>
            <a:rect r="r" b="b" t="t" l="l"/>
            <a:pathLst>
              <a:path h="1855314" w="4156842">
                <a:moveTo>
                  <a:pt x="0" y="0"/>
                </a:moveTo>
                <a:lnTo>
                  <a:pt x="4156842" y="0"/>
                </a:lnTo>
                <a:lnTo>
                  <a:pt x="4156842" y="1855314"/>
                </a:lnTo>
                <a:lnTo>
                  <a:pt x="0" y="18553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26255" y="3064785"/>
            <a:ext cx="4367375" cy="1855314"/>
          </a:xfrm>
          <a:custGeom>
            <a:avLst/>
            <a:gdLst/>
            <a:ahLst/>
            <a:cxnLst/>
            <a:rect r="r" b="b" t="t" l="l"/>
            <a:pathLst>
              <a:path h="1855314" w="4367375">
                <a:moveTo>
                  <a:pt x="0" y="0"/>
                </a:moveTo>
                <a:lnTo>
                  <a:pt x="4367375" y="0"/>
                </a:lnTo>
                <a:lnTo>
                  <a:pt x="4367375" y="1855314"/>
                </a:lnTo>
                <a:lnTo>
                  <a:pt x="0" y="18553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84024" y="3064785"/>
            <a:ext cx="4509342" cy="1863092"/>
          </a:xfrm>
          <a:custGeom>
            <a:avLst/>
            <a:gdLst/>
            <a:ahLst/>
            <a:cxnLst/>
            <a:rect r="r" b="b" t="t" l="l"/>
            <a:pathLst>
              <a:path h="1863092" w="4509342">
                <a:moveTo>
                  <a:pt x="0" y="0"/>
                </a:moveTo>
                <a:lnTo>
                  <a:pt x="4509343" y="0"/>
                </a:lnTo>
                <a:lnTo>
                  <a:pt x="4509343" y="1863092"/>
                </a:lnTo>
                <a:lnTo>
                  <a:pt x="0" y="1863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7179" y="5480327"/>
            <a:ext cx="14833643" cy="4316618"/>
          </a:xfrm>
          <a:custGeom>
            <a:avLst/>
            <a:gdLst/>
            <a:ahLst/>
            <a:cxnLst/>
            <a:rect r="r" b="b" t="t" l="l"/>
            <a:pathLst>
              <a:path h="4316618" w="14833643">
                <a:moveTo>
                  <a:pt x="0" y="0"/>
                </a:moveTo>
                <a:lnTo>
                  <a:pt x="14833642" y="0"/>
                </a:lnTo>
                <a:lnTo>
                  <a:pt x="14833642" y="4316618"/>
                </a:lnTo>
                <a:lnTo>
                  <a:pt x="0" y="43166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67707" y="7443871"/>
            <a:ext cx="3220293" cy="3059278"/>
          </a:xfrm>
          <a:custGeom>
            <a:avLst/>
            <a:gdLst/>
            <a:ahLst/>
            <a:cxnLst/>
            <a:rect r="r" b="b" t="t" l="l"/>
            <a:pathLst>
              <a:path h="3059278" w="3220293">
                <a:moveTo>
                  <a:pt x="0" y="0"/>
                </a:moveTo>
                <a:lnTo>
                  <a:pt x="3220293" y="0"/>
                </a:lnTo>
                <a:lnTo>
                  <a:pt x="3220293" y="3059278"/>
                </a:lnTo>
                <a:lnTo>
                  <a:pt x="0" y="30592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1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1322" y="1579449"/>
            <a:ext cx="8692678" cy="202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b="true" sz="6235" spc="-12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Pipeline Orchestration</a:t>
            </a:r>
          </a:p>
          <a:p>
            <a:pPr algn="l">
              <a:lnSpc>
                <a:spcPts val="7482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68168" y="1156649"/>
            <a:ext cx="11013995" cy="8676520"/>
          </a:xfrm>
          <a:custGeom>
            <a:avLst/>
            <a:gdLst/>
            <a:ahLst/>
            <a:cxnLst/>
            <a:rect r="r" b="b" t="t" l="l"/>
            <a:pathLst>
              <a:path h="8676520" w="11013995">
                <a:moveTo>
                  <a:pt x="0" y="0"/>
                </a:moveTo>
                <a:lnTo>
                  <a:pt x="11013995" y="0"/>
                </a:lnTo>
                <a:lnTo>
                  <a:pt x="11013995" y="8676521"/>
                </a:lnTo>
                <a:lnTo>
                  <a:pt x="0" y="86765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69360" y="114760"/>
            <a:ext cx="353357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43135" y="370513"/>
            <a:ext cx="2952969" cy="786136"/>
            <a:chOff x="0" y="0"/>
            <a:chExt cx="3937292" cy="1048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10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2" y="0"/>
                </a:lnTo>
                <a:lnTo>
                  <a:pt x="2513352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90240" y="1463539"/>
            <a:ext cx="11694287" cy="8490477"/>
          </a:xfrm>
          <a:custGeom>
            <a:avLst/>
            <a:gdLst/>
            <a:ahLst/>
            <a:cxnLst/>
            <a:rect r="r" b="b" t="t" l="l"/>
            <a:pathLst>
              <a:path h="8490477" w="11694287">
                <a:moveTo>
                  <a:pt x="0" y="0"/>
                </a:moveTo>
                <a:lnTo>
                  <a:pt x="11694288" y="0"/>
                </a:lnTo>
                <a:lnTo>
                  <a:pt x="11694288" y="8490477"/>
                </a:lnTo>
                <a:lnTo>
                  <a:pt x="0" y="84904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69360" y="114760"/>
            <a:ext cx="353357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113151" y="7285330"/>
            <a:ext cx="8279101" cy="415500"/>
            <a:chOff x="0" y="0"/>
            <a:chExt cx="11038802" cy="553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093720" y="6059586"/>
            <a:ext cx="8279101" cy="557752"/>
            <a:chOff x="0" y="0"/>
            <a:chExt cx="11038802" cy="7436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3093720" y="6656675"/>
            <a:ext cx="827910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Recommendation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2212817" y="2665985"/>
            <a:ext cx="53817" cy="4354955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753277" y="549561"/>
            <a:ext cx="2001615" cy="2001615"/>
          </a:xfrm>
          <a:custGeom>
            <a:avLst/>
            <a:gdLst/>
            <a:ahLst/>
            <a:cxnLst/>
            <a:rect r="r" b="b" t="t" l="l"/>
            <a:pathLst>
              <a:path h="2001615" w="2001615">
                <a:moveTo>
                  <a:pt x="0" y="0"/>
                </a:moveTo>
                <a:lnTo>
                  <a:pt x="2001615" y="0"/>
                </a:lnTo>
                <a:lnTo>
                  <a:pt x="2001615" y="2001615"/>
                </a:lnTo>
                <a:lnTo>
                  <a:pt x="0" y="2001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66685" y="1142336"/>
            <a:ext cx="606266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Recommendation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12817" y="3319780"/>
            <a:ext cx="17074439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Prioritize Maintenance for High-Risk Telemetry Devices </a:t>
            </a:r>
          </a:p>
          <a:p>
            <a:pPr algn="ctr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Resolve IoT Connectivity &amp; Telemetry Signal Drops</a:t>
            </a:r>
          </a:p>
          <a:p>
            <a:pPr algn="ctr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Automate Alert Escalations for Low Oxygen &amp; Abnormal Blood Pressure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081" y="1279141"/>
            <a:ext cx="7433548" cy="8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3151" y="3722513"/>
            <a:ext cx="8279101" cy="415500"/>
            <a:chOff x="0" y="0"/>
            <a:chExt cx="11038802" cy="553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553998"/>
            </a:xfrm>
            <a:custGeom>
              <a:avLst/>
              <a:gdLst/>
              <a:ahLst/>
              <a:cxnLst/>
              <a:rect r="r" b="b" t="t" l="l"/>
              <a:pathLst>
                <a:path h="553998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8"/>
                  </a:lnTo>
                  <a:lnTo>
                    <a:pt x="0" y="553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3" r="0" b="-3382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38831" y="3720827"/>
            <a:ext cx="53997" cy="378000"/>
            <a:chOff x="0" y="0"/>
            <a:chExt cx="71996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93720" y="5449967"/>
            <a:ext cx="8279101" cy="415500"/>
            <a:chOff x="0" y="0"/>
            <a:chExt cx="11038802" cy="553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9400" y="5448300"/>
            <a:ext cx="53997" cy="378000"/>
            <a:chOff x="0" y="0"/>
            <a:chExt cx="71996" cy="50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838831" y="6691513"/>
            <a:ext cx="53997" cy="378000"/>
            <a:chOff x="0" y="0"/>
            <a:chExt cx="71996" cy="50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113151" y="7285330"/>
            <a:ext cx="8279101" cy="557752"/>
            <a:chOff x="0" y="0"/>
            <a:chExt cx="11038802" cy="7436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b="true" sz="2700" strike="noStrike" u="non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838831" y="7283644"/>
            <a:ext cx="53997" cy="378000"/>
            <a:chOff x="0" y="0"/>
            <a:chExt cx="71996" cy="50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113151" y="4306129"/>
            <a:ext cx="8279101" cy="415500"/>
            <a:chOff x="0" y="0"/>
            <a:chExt cx="11038802" cy="553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838831" y="4304443"/>
            <a:ext cx="53997" cy="378000"/>
            <a:chOff x="0" y="0"/>
            <a:chExt cx="71996" cy="50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093720" y="6059586"/>
            <a:ext cx="8279101" cy="557752"/>
            <a:chOff x="0" y="0"/>
            <a:chExt cx="11038802" cy="7436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38800" cy="743667"/>
            </a:xfrm>
            <a:custGeom>
              <a:avLst/>
              <a:gdLst/>
              <a:ahLst/>
              <a:cxnLst/>
              <a:rect r="r" b="b" t="t" l="l"/>
              <a:pathLst>
                <a:path h="743667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743667"/>
                  </a:lnTo>
                  <a:lnTo>
                    <a:pt x="0" y="743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982" r="0" b="-22647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1038802" cy="762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819400" y="6057900"/>
            <a:ext cx="53997" cy="378000"/>
            <a:chOff x="0" y="0"/>
            <a:chExt cx="71996" cy="50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113151" y="4845777"/>
            <a:ext cx="8279101" cy="415500"/>
            <a:chOff x="0" y="0"/>
            <a:chExt cx="11038802" cy="5539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38800" cy="553999"/>
            </a:xfrm>
            <a:custGeom>
              <a:avLst/>
              <a:gdLst/>
              <a:ahLst/>
              <a:cxnLst/>
              <a:rect r="r" b="b" t="t" l="l"/>
              <a:pathLst>
                <a:path h="553999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553999"/>
                  </a:lnTo>
                  <a:lnTo>
                    <a:pt x="0" y="553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252" r="0" b="-3382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1038802" cy="5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838831" y="4844091"/>
            <a:ext cx="53997" cy="378000"/>
            <a:chOff x="0" y="0"/>
            <a:chExt cx="71996" cy="504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3093720" y="6656675"/>
            <a:ext cx="827910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738129" y="1655751"/>
            <a:ext cx="0" cy="5544831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17981" y="6708664"/>
            <a:ext cx="2593317" cy="3124479"/>
          </a:xfrm>
          <a:custGeom>
            <a:avLst/>
            <a:gdLst/>
            <a:ahLst/>
            <a:cxnLst/>
            <a:rect r="r" b="b" t="t" l="l"/>
            <a:pathLst>
              <a:path h="3124479" w="2593317">
                <a:moveTo>
                  <a:pt x="0" y="0"/>
                </a:moveTo>
                <a:lnTo>
                  <a:pt x="2593318" y="0"/>
                </a:lnTo>
                <a:lnTo>
                  <a:pt x="2593318" y="3124479"/>
                </a:lnTo>
                <a:lnTo>
                  <a:pt x="0" y="3124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66685" y="646983"/>
            <a:ext cx="14201899" cy="96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7"/>
              </a:lnSpc>
            </a:pPr>
            <a:r>
              <a:rPr lang="en-US" sz="563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 Conclusion &amp; Core Engineering Value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38129" y="1958049"/>
            <a:ext cx="1654149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 En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d-to-End Lifecycle: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Demonstrates a full data engineering pipeline—from synthetic IoT data generation, batch &amp; streaming ingestion, and Lakehouse storage to Snowflake loading, dbt transformations, and Power BI dashboards.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8129" y="4600057"/>
            <a:ext cx="1577159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Traceability &amp; Automated Quality Gates:</a:t>
            </a:r>
            <a:r>
              <a:rPr lang="en-US" sz="3399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Integrates distributed pipeline stages with strict data quality testing and workflow orchestration, ensuring end-to-end data integrity across every layer.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8129" y="6641989"/>
            <a:ext cx="1430533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Focus on Data Engineering Excellence:</a:t>
            </a:r>
            <a:r>
              <a:rPr lang="en-US" sz="3399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core value lies in reliable data movement, distributed validation, and seamless pipeline integration rather than clinical data interpretation.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3105807"/>
            <a:chOff x="0" y="0"/>
            <a:chExt cx="24384000" cy="4141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41089"/>
            </a:xfrm>
            <a:custGeom>
              <a:avLst/>
              <a:gdLst/>
              <a:ahLst/>
              <a:cxnLst/>
              <a:rect r="r" b="b" t="t" l="l"/>
              <a:pathLst>
                <a:path h="414108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41089"/>
                  </a:lnTo>
                  <a:lnTo>
                    <a:pt x="0" y="414108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472405" y="4953667"/>
            <a:ext cx="10307663" cy="2731531"/>
          </a:xfrm>
          <a:custGeom>
            <a:avLst/>
            <a:gdLst/>
            <a:ahLst/>
            <a:cxnLst/>
            <a:rect r="r" b="b" t="t" l="l"/>
            <a:pathLst>
              <a:path h="2731531" w="10307663">
                <a:moveTo>
                  <a:pt x="0" y="0"/>
                </a:moveTo>
                <a:lnTo>
                  <a:pt x="10307663" y="0"/>
                </a:lnTo>
                <a:lnTo>
                  <a:pt x="10307663" y="2731531"/>
                </a:lnTo>
                <a:lnTo>
                  <a:pt x="0" y="2731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8436" y="1028700"/>
            <a:ext cx="2939394" cy="3127015"/>
          </a:xfrm>
          <a:custGeom>
            <a:avLst/>
            <a:gdLst/>
            <a:ahLst/>
            <a:cxnLst/>
            <a:rect r="r" b="b" t="t" l="l"/>
            <a:pathLst>
              <a:path h="3127015" w="2939394">
                <a:moveTo>
                  <a:pt x="0" y="0"/>
                </a:moveTo>
                <a:lnTo>
                  <a:pt x="2939393" y="0"/>
                </a:lnTo>
                <a:lnTo>
                  <a:pt x="2939393" y="3127015"/>
                </a:lnTo>
                <a:lnTo>
                  <a:pt x="0" y="31270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7437" y="9514008"/>
            <a:ext cx="5334857" cy="3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5080" y="8427510"/>
            <a:ext cx="17192920" cy="112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96871" y="605933"/>
            <a:ext cx="2513352" cy="315287"/>
          </a:xfrm>
          <a:custGeom>
            <a:avLst/>
            <a:gdLst/>
            <a:ahLst/>
            <a:cxnLst/>
            <a:rect r="r" b="b" t="t" l="l"/>
            <a:pathLst>
              <a:path h="315287" w="2513352">
                <a:moveTo>
                  <a:pt x="0" y="0"/>
                </a:moveTo>
                <a:lnTo>
                  <a:pt x="2513353" y="0"/>
                </a:lnTo>
                <a:lnTo>
                  <a:pt x="2513353" y="315287"/>
                </a:lnTo>
                <a:lnTo>
                  <a:pt x="0" y="31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41184" y="3943321"/>
            <a:ext cx="6205633" cy="1653207"/>
            <a:chOff x="0" y="0"/>
            <a:chExt cx="8274177" cy="22042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74177" cy="2204339"/>
            </a:xfrm>
            <a:custGeom>
              <a:avLst/>
              <a:gdLst/>
              <a:ahLst/>
              <a:cxnLst/>
              <a:rect r="r" b="b" t="t" l="l"/>
              <a:pathLst>
                <a:path h="2204339" w="8274177">
                  <a:moveTo>
                    <a:pt x="0" y="0"/>
                  </a:moveTo>
                  <a:lnTo>
                    <a:pt x="8274177" y="0"/>
                  </a:lnTo>
                  <a:lnTo>
                    <a:pt x="8274177" y="2204339"/>
                  </a:lnTo>
                  <a:lnTo>
                    <a:pt x="0" y="2204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311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DAHZUmeE2JI</dc:identifier>
  <dcterms:modified xsi:type="dcterms:W3CDTF">2011-08-01T06:04:30Z</dcterms:modified>
  <cp:revision>1</cp:revision>
  <dc:title>project_template .pptx</dc:title>
</cp:coreProperties>
</file>
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Arial Bold" charset="1" panose="020B0704020202020204"/>
      <p:regular r:id="rId35"/>
    </p:embeddedFont>
    <p:embeddedFont>
      <p:font typeface="Calibri (MS)" charset="1" panose="020F0502020204030204"/>
      <p:regular r:id="rId36"/>
    </p:embeddedFont>
    <p:embeddedFont>
      <p:font typeface="Arial" charset="1" panose="020B0604020202020204"/>
      <p:regular r:id="rId37"/>
    </p:embeddedFont>
    <p:embeddedFont>
      <p:font typeface="Calibri (MS) Bold" charset="1" panose="020F0702030404030204"/>
      <p:regular r:id="rId39"/>
    </p:embeddedFont>
    <p:embeddedFont>
      <p:font typeface="Arial Italics" charset="1" panose="020B0604020202090204"/>
      <p:regular r:id="rId41"/>
    </p:embeddedFont>
    <p:embeddedFont>
      <p:font typeface="Canva Sans" charset="1" panose="020B0503030501040103"/>
      <p:regular r:id="rId46"/>
    </p:embeddedFont>
    <p:embeddedFont>
      <p:font typeface="Canva Sans Italics" charset="1" panose="020B0503030501040103"/>
      <p:regular r:id="rId49"/>
    </p:embeddedFont>
    <p:embeddedFont>
      <p:font typeface="Canva Sans Bold" charset="1" panose="020B0803030501040103"/>
      <p:regular r:id="rId5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notesMasters/notesMaster1.xml" Type="http://schemas.openxmlformats.org/officeDocument/2006/relationships/notesMaster"/><Relationship Id="rId33" Target="theme/theme2.xml" Type="http://schemas.openxmlformats.org/officeDocument/2006/relationships/theme"/><Relationship Id="rId34" Target="notesSlides/notesSlide1.xml" Type="http://schemas.openxmlformats.org/officeDocument/2006/relationships/notes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notesSlides/notesSlide2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notesSlides/notesSlide3.xml" Type="http://schemas.openxmlformats.org/officeDocument/2006/relationships/notesSlide"/><Relationship Id="rId41" Target="fonts/font41.fntdata" Type="http://schemas.openxmlformats.org/officeDocument/2006/relationships/font"/><Relationship Id="rId42" Target="notesSlides/notesSlide4.xml" Type="http://schemas.openxmlformats.org/officeDocument/2006/relationships/notesSlide"/><Relationship Id="rId43" Target="notesSlides/notesSlide5.xml" Type="http://schemas.openxmlformats.org/officeDocument/2006/relationships/notesSlide"/><Relationship Id="rId44" Target="notesSlides/notesSlide6.xml" Type="http://schemas.openxmlformats.org/officeDocument/2006/relationships/notesSlide"/><Relationship Id="rId45" Target="notesSlides/notesSlide7.xml" Type="http://schemas.openxmlformats.org/officeDocument/2006/relationships/notesSlide"/><Relationship Id="rId46" Target="fonts/font46.fntdata" Type="http://schemas.openxmlformats.org/officeDocument/2006/relationships/font"/><Relationship Id="rId47" Target="notesSlides/notesSlide8.xml" Type="http://schemas.openxmlformats.org/officeDocument/2006/relationships/notesSlide"/><Relationship Id="rId48" Target="notesSlides/notesSlide9.xml" Type="http://schemas.openxmlformats.org/officeDocument/2006/relationships/notesSlide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notesSlides/notesSlide10.xml" Type="http://schemas.openxmlformats.org/officeDocument/2006/relationships/notesSlide"/><Relationship Id="rId51" Target="fonts/font51.fntdata" Type="http://schemas.openxmlformats.org/officeDocument/2006/relationships/font"/><Relationship Id="rId52" Target="notesSlides/notesSlide11.xml" Type="http://schemas.openxmlformats.org/officeDocument/2006/relationships/notesSlide"/><Relationship Id="rId53" Target="notesSlides/notesSlide12.xml" Type="http://schemas.openxmlformats.org/officeDocument/2006/relationships/notesSlide"/><Relationship Id="rId54" Target="notesSlides/notesSlide13.xml" Type="http://schemas.openxmlformats.org/officeDocument/2006/relationships/notesSlide"/><Relationship Id="rId55" Target="notesSlides/notesSlide14.xml" Type="http://schemas.openxmlformats.org/officeDocument/2006/relationships/notesSlide"/><Relationship Id="rId56" Target="notesSlides/notesSlide15.xml" Type="http://schemas.openxmlformats.org/officeDocument/2006/relationships/notesSlide"/><Relationship Id="rId57" Target="notesSlides/notesSlide16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Relationship Id="rId8" Target="../media/image38.png" Type="http://schemas.openxmlformats.org/officeDocument/2006/relationships/image"/><Relationship Id="rId9" Target="../media/image39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2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43.png" Type="http://schemas.openxmlformats.org/officeDocument/2006/relationships/image"/><Relationship Id="rId4" Target="../media/image44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45.png" Type="http://schemas.openxmlformats.org/officeDocument/2006/relationships/image"/><Relationship Id="rId4" Target="../media/image46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47.png" Type="http://schemas.openxmlformats.org/officeDocument/2006/relationships/image"/><Relationship Id="rId4" Target="../media/image48.svg" Type="http://schemas.openxmlformats.org/officeDocument/2006/relationships/image"/><Relationship Id="rId5" Target="../media/image49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43135" y="370513"/>
            <a:ext cx="2952969" cy="786136"/>
            <a:chOff x="0" y="0"/>
            <a:chExt cx="3937292" cy="1048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37254" cy="1048131"/>
            </a:xfrm>
            <a:custGeom>
              <a:avLst/>
              <a:gdLst/>
              <a:ahLst/>
              <a:cxnLst/>
              <a:rect r="r" b="b" t="t" l="l"/>
              <a:pathLst>
                <a:path h="1048131" w="3937254">
                  <a:moveTo>
                    <a:pt x="0" y="0"/>
                  </a:moveTo>
                  <a:lnTo>
                    <a:pt x="3937254" y="0"/>
                  </a:lnTo>
                  <a:lnTo>
                    <a:pt x="3937254" y="1048131"/>
                  </a:lnTo>
                  <a:lnTo>
                    <a:pt x="0" y="1048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2312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15810" y="605933"/>
            <a:ext cx="2513352" cy="315287"/>
          </a:xfrm>
          <a:custGeom>
            <a:avLst/>
            <a:gdLst/>
            <a:ahLst/>
            <a:cxnLst/>
            <a:rect r="r" b="b" t="t" l="l"/>
            <a:pathLst>
              <a:path h="315287" w="2513352">
                <a:moveTo>
                  <a:pt x="0" y="0"/>
                </a:moveTo>
                <a:lnTo>
                  <a:pt x="2513352" y="0"/>
                </a:lnTo>
                <a:lnTo>
                  <a:pt x="2513352" y="315287"/>
                </a:lnTo>
                <a:lnTo>
                  <a:pt x="0" y="3152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015729" y="4083634"/>
            <a:ext cx="13102952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Healthcare IoT Monitoring Platform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15729" y="5847369"/>
            <a:ext cx="9067505" cy="720403"/>
            <a:chOff x="0" y="0"/>
            <a:chExt cx="12090006" cy="9605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90000" cy="960543"/>
            </a:xfrm>
            <a:custGeom>
              <a:avLst/>
              <a:gdLst/>
              <a:ahLst/>
              <a:cxnLst/>
              <a:rect r="r" b="b" t="t" l="l"/>
              <a:pathLst>
                <a:path h="960543" w="12090000">
                  <a:moveTo>
                    <a:pt x="0" y="0"/>
                  </a:moveTo>
                  <a:lnTo>
                    <a:pt x="12090000" y="0"/>
                  </a:lnTo>
                  <a:lnTo>
                    <a:pt x="12090000" y="960543"/>
                  </a:lnTo>
                  <a:lnTo>
                    <a:pt x="0" y="96054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6804" r="0" b="-18369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2090006" cy="10272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0B3E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SIC 8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015729" y="6401267"/>
            <a:ext cx="2356647" cy="484746"/>
            <a:chOff x="0" y="0"/>
            <a:chExt cx="3142196" cy="6463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42200" cy="646331"/>
            </a:xfrm>
            <a:custGeom>
              <a:avLst/>
              <a:gdLst/>
              <a:ahLst/>
              <a:cxnLst/>
              <a:rect r="r" b="b" t="t" l="l"/>
              <a:pathLst>
                <a:path h="646331" w="3142200">
                  <a:moveTo>
                    <a:pt x="0" y="0"/>
                  </a:moveTo>
                  <a:lnTo>
                    <a:pt x="3142200" y="0"/>
                  </a:lnTo>
                  <a:lnTo>
                    <a:pt x="3142200" y="646331"/>
                  </a:lnTo>
                  <a:lnTo>
                    <a:pt x="0" y="64633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4728" r="0" b="-4472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3142196" cy="6653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>
                  <a:solidFill>
                    <a:srgbClr val="00B3E3"/>
                  </a:solidFill>
                  <a:latin typeface="Arial"/>
                  <a:ea typeface="Arial"/>
                  <a:cs typeface="Arial"/>
                  <a:sym typeface="Arial"/>
                </a:rPr>
                <a:t>BD Course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989602" y="6767036"/>
            <a:ext cx="958751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B3E3"/>
                </a:solidFill>
                <a:latin typeface="Calibri (MS)"/>
                <a:ea typeface="Calibri (MS)"/>
                <a:cs typeface="Calibri (MS)"/>
                <a:sym typeface="Calibri (MS)"/>
              </a:rPr>
              <a:t>G 20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3105807"/>
            <a:chOff x="0" y="0"/>
            <a:chExt cx="24384000" cy="41410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141089"/>
            </a:xfrm>
            <a:custGeom>
              <a:avLst/>
              <a:gdLst/>
              <a:ahLst/>
              <a:cxnLst/>
              <a:rect r="r" b="b" t="t" l="l"/>
              <a:pathLst>
                <a:path h="414108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141089"/>
                  </a:lnTo>
                  <a:lnTo>
                    <a:pt x="0" y="4141089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113151" y="3722513"/>
            <a:ext cx="8279101" cy="415500"/>
            <a:chOff x="0" y="0"/>
            <a:chExt cx="11038802" cy="5539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Team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838831" y="3720827"/>
            <a:ext cx="53997" cy="378000"/>
            <a:chOff x="0" y="0"/>
            <a:chExt cx="71996" cy="504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3113151" y="4306129"/>
            <a:ext cx="8279101" cy="415500"/>
            <a:chOff x="0" y="0"/>
            <a:chExt cx="11038802" cy="5539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838831" y="4304443"/>
            <a:ext cx="53997" cy="378000"/>
            <a:chOff x="0" y="0"/>
            <a:chExt cx="71996" cy="504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093720" y="4840386"/>
            <a:ext cx="8279101" cy="415500"/>
            <a:chOff x="0" y="0"/>
            <a:chExt cx="11038802" cy="55399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819400" y="4838700"/>
            <a:ext cx="53997" cy="378000"/>
            <a:chOff x="0" y="0"/>
            <a:chExt cx="71996" cy="504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3093720" y="5373767"/>
            <a:ext cx="8279101" cy="415500"/>
            <a:chOff x="0" y="0"/>
            <a:chExt cx="11038802" cy="55399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2900" r="0" b="-51290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Methodology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819400" y="5372100"/>
            <a:ext cx="53997" cy="378000"/>
            <a:chOff x="0" y="0"/>
            <a:chExt cx="71996" cy="504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3113151" y="6693208"/>
            <a:ext cx="8279101" cy="415500"/>
            <a:chOff x="0" y="0"/>
            <a:chExt cx="11038802" cy="55399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038800" cy="553996"/>
            </a:xfrm>
            <a:custGeom>
              <a:avLst/>
              <a:gdLst/>
              <a:ahLst/>
              <a:cxnLst/>
              <a:rect r="r" b="b" t="t" l="l"/>
              <a:pathLst>
                <a:path h="553996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6"/>
                  </a:lnTo>
                  <a:lnTo>
                    <a:pt x="0" y="5539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4" r="0" b="-33825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1038802" cy="611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Results and Insights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838831" y="6691513"/>
            <a:ext cx="53997" cy="378000"/>
            <a:chOff x="0" y="0"/>
            <a:chExt cx="71996" cy="504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113151" y="7285330"/>
            <a:ext cx="8279101" cy="415500"/>
            <a:chOff x="0" y="0"/>
            <a:chExt cx="11038802" cy="55399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838831" y="7283644"/>
            <a:ext cx="53997" cy="378000"/>
            <a:chOff x="0" y="0"/>
            <a:chExt cx="71996" cy="504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3093720" y="6059586"/>
            <a:ext cx="8279101" cy="415500"/>
            <a:chOff x="0" y="0"/>
            <a:chExt cx="11038802" cy="55399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Key Tasks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819400" y="6057900"/>
            <a:ext cx="53997" cy="378000"/>
            <a:chOff x="0" y="0"/>
            <a:chExt cx="71996" cy="504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555081" y="1279141"/>
            <a:ext cx="7433548" cy="88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42480">
            <a:off x="515950" y="4950752"/>
            <a:ext cx="4355287" cy="0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2666685" y="3650858"/>
            <a:ext cx="15966030" cy="301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8760" indent="-304380" lvl="1">
              <a:lnSpc>
                <a:spcPts val="3383"/>
              </a:lnSpc>
              <a:buFont typeface="Arial"/>
              <a:buChar char="•"/>
            </a:pPr>
            <a:r>
              <a:rPr lang="en-US" sz="281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Retage Wael                                                  </a:t>
            </a:r>
            <a:r>
              <a:rPr lang="en-US" sz="2819" i="true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         Data Ingestion</a:t>
            </a:r>
          </a:p>
          <a:p>
            <a:pPr algn="l">
              <a:lnSpc>
                <a:spcPts val="3383"/>
              </a:lnSpc>
            </a:pPr>
            <a:r>
              <a:rPr lang="en-US" sz="281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 marL="608760" indent="-304380" lvl="1">
              <a:lnSpc>
                <a:spcPts val="3383"/>
              </a:lnSpc>
              <a:buFont typeface="Arial"/>
              <a:buChar char="•"/>
            </a:pPr>
            <a:r>
              <a:rPr lang="en-US" sz="281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Yousef Michael                                                       </a:t>
            </a:r>
            <a:r>
              <a:rPr lang="en-US" sz="2819" i="true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Data Transformation, Data Orchestration</a:t>
            </a:r>
          </a:p>
          <a:p>
            <a:pPr algn="l">
              <a:lnSpc>
                <a:spcPts val="3383"/>
              </a:lnSpc>
            </a:pPr>
          </a:p>
          <a:p>
            <a:pPr algn="l" marL="608760" indent="-304380" lvl="1">
              <a:lnSpc>
                <a:spcPts val="3383"/>
              </a:lnSpc>
              <a:buFont typeface="Arial"/>
              <a:buChar char="•"/>
            </a:pPr>
            <a:r>
              <a:rPr lang="en-US" sz="281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Mohamed Sherif                                                     </a:t>
            </a:r>
            <a:r>
              <a:rPr lang="en-US" sz="2819" i="true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Data Warehousing, Data Orchestration</a:t>
            </a:r>
          </a:p>
          <a:p>
            <a:pPr algn="l">
              <a:lnSpc>
                <a:spcPts val="3383"/>
              </a:lnSpc>
            </a:pPr>
          </a:p>
          <a:p>
            <a:pPr algn="l" marL="608760" indent="-304380" lvl="1">
              <a:lnSpc>
                <a:spcPts val="3383"/>
              </a:lnSpc>
              <a:spcBef>
                <a:spcPct val="0"/>
              </a:spcBef>
              <a:buFont typeface="Arial"/>
              <a:buChar char="•"/>
            </a:pPr>
            <a:r>
              <a:rPr lang="en-US" sz="281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Amr Metwally                                                      </a:t>
            </a:r>
            <a:r>
              <a:rPr lang="en-US" sz="2819" i="true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   BI &amp; Analytics Integration</a:t>
            </a:r>
            <a:r>
              <a:rPr lang="en-US" sz="281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647419" y="6755771"/>
            <a:ext cx="4586011" cy="3531229"/>
          </a:xfrm>
          <a:custGeom>
            <a:avLst/>
            <a:gdLst/>
            <a:ahLst/>
            <a:cxnLst/>
            <a:rect r="r" b="b" t="t" l="l"/>
            <a:pathLst>
              <a:path h="3531229" w="4586011">
                <a:moveTo>
                  <a:pt x="0" y="0"/>
                </a:moveTo>
                <a:lnTo>
                  <a:pt x="4586011" y="0"/>
                </a:lnTo>
                <a:lnTo>
                  <a:pt x="4586011" y="3531229"/>
                </a:lnTo>
                <a:lnTo>
                  <a:pt x="0" y="3531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37607" y="1908239"/>
            <a:ext cx="1896666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Team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3105807"/>
            <a:chOff x="0" y="0"/>
            <a:chExt cx="24384000" cy="41410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141089"/>
            </a:xfrm>
            <a:custGeom>
              <a:avLst/>
              <a:gdLst/>
              <a:ahLst/>
              <a:cxnLst/>
              <a:rect r="r" b="b" t="t" l="l"/>
              <a:pathLst>
                <a:path h="414108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141089"/>
                  </a:lnTo>
                  <a:lnTo>
                    <a:pt x="0" y="4141089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55081" y="1279141"/>
            <a:ext cx="7433548" cy="88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Agenda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113151" y="3722513"/>
            <a:ext cx="8279101" cy="415500"/>
            <a:chOff x="0" y="0"/>
            <a:chExt cx="11038802" cy="5539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1038802" cy="611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838831" y="3720827"/>
            <a:ext cx="53997" cy="378000"/>
            <a:chOff x="0" y="0"/>
            <a:chExt cx="71996" cy="50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113151" y="4306129"/>
            <a:ext cx="8279101" cy="415500"/>
            <a:chOff x="0" y="0"/>
            <a:chExt cx="11038802" cy="5539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Introduction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838831" y="4304443"/>
            <a:ext cx="53997" cy="378000"/>
            <a:chOff x="0" y="0"/>
            <a:chExt cx="71996" cy="50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1F497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113151" y="4845777"/>
            <a:ext cx="8279101" cy="415500"/>
            <a:chOff x="0" y="0"/>
            <a:chExt cx="11038802" cy="55399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838831" y="4844091"/>
            <a:ext cx="53997" cy="378000"/>
            <a:chOff x="0" y="0"/>
            <a:chExt cx="71996" cy="504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3093720" y="5449967"/>
            <a:ext cx="8279101" cy="415500"/>
            <a:chOff x="0" y="0"/>
            <a:chExt cx="11038802" cy="5539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Methodology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819400" y="5448300"/>
            <a:ext cx="53997" cy="378000"/>
            <a:chOff x="0" y="0"/>
            <a:chExt cx="71996" cy="504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113151" y="6693208"/>
            <a:ext cx="8279101" cy="415500"/>
            <a:chOff x="0" y="0"/>
            <a:chExt cx="11038802" cy="55399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038800" cy="553996"/>
            </a:xfrm>
            <a:custGeom>
              <a:avLst/>
              <a:gdLst/>
              <a:ahLst/>
              <a:cxnLst/>
              <a:rect r="r" b="b" t="t" l="l"/>
              <a:pathLst>
                <a:path h="553996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6"/>
                  </a:lnTo>
                  <a:lnTo>
                    <a:pt x="0" y="5539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4" r="0" b="-33825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1038802" cy="611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Results and Insights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838831" y="6691513"/>
            <a:ext cx="53997" cy="378000"/>
            <a:chOff x="0" y="0"/>
            <a:chExt cx="71996" cy="504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3113151" y="7285330"/>
            <a:ext cx="8279101" cy="415500"/>
            <a:chOff x="0" y="0"/>
            <a:chExt cx="11038802" cy="55399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838831" y="7283644"/>
            <a:ext cx="53997" cy="378000"/>
            <a:chOff x="0" y="0"/>
            <a:chExt cx="71996" cy="504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3093720" y="6135786"/>
            <a:ext cx="8279101" cy="415500"/>
            <a:chOff x="0" y="0"/>
            <a:chExt cx="11038802" cy="55399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Key Tasks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819400" y="6134100"/>
            <a:ext cx="53997" cy="378000"/>
            <a:chOff x="0" y="0"/>
            <a:chExt cx="71996" cy="504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1057437" y="1968589"/>
            <a:ext cx="0" cy="6463369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417528" y="1949539"/>
            <a:ext cx="17295857" cy="6734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1"/>
              </a:lnSpc>
              <a:spcBef>
                <a:spcPct val="0"/>
              </a:spcBef>
            </a:pPr>
            <a:r>
              <a:rPr lang="en-US" b="true" sz="3476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Connecting Patient Care to Actionable Insights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b="true" sz="256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 CONTEXT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566" i="true" u="sng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Continuous Hospital Stream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5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Modern wards rely on continuous telemetry from smart bedside monitors, heart-rate sensors, and oxygen meters.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b="true" sz="256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PROJECT OBJECTIVE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566" i="true" u="sng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Reliable Real-Time Data Streaming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5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 high-availability pipeline that captures live patient telemetry without data loss, streaming seamlessly from devices to cloud storage for instant analysis.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b="true" sz="256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BUSINESS VALUE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566" i="true" u="sng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Clinical Efficiency &amp; Safety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5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Eliminates critical alert lags, optimizes bed management, and protects hospital reputation with 100% data auditability.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377355" y="-1294168"/>
            <a:ext cx="8222543" cy="4645737"/>
          </a:xfrm>
          <a:custGeom>
            <a:avLst/>
            <a:gdLst/>
            <a:ahLst/>
            <a:cxnLst/>
            <a:rect r="r" b="b" t="t" l="l"/>
            <a:pathLst>
              <a:path h="4645737" w="8222543">
                <a:moveTo>
                  <a:pt x="0" y="0"/>
                </a:moveTo>
                <a:lnTo>
                  <a:pt x="8222543" y="0"/>
                </a:lnTo>
                <a:lnTo>
                  <a:pt x="8222543" y="4645736"/>
                </a:lnTo>
                <a:lnTo>
                  <a:pt x="0" y="4645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0999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17528" y="377995"/>
            <a:ext cx="10512904" cy="115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Introduction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3105807"/>
            <a:chOff x="0" y="0"/>
            <a:chExt cx="24384000" cy="41410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141089"/>
            </a:xfrm>
            <a:custGeom>
              <a:avLst/>
              <a:gdLst/>
              <a:ahLst/>
              <a:cxnLst/>
              <a:rect r="r" b="b" t="t" l="l"/>
              <a:pathLst>
                <a:path h="414108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141089"/>
                  </a:lnTo>
                  <a:lnTo>
                    <a:pt x="0" y="4141089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55081" y="1279141"/>
            <a:ext cx="7433548" cy="88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Agenda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113151" y="3722513"/>
            <a:ext cx="8279101" cy="415500"/>
            <a:chOff x="0" y="0"/>
            <a:chExt cx="11038802" cy="5539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Team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838831" y="3720827"/>
            <a:ext cx="53997" cy="378000"/>
            <a:chOff x="0" y="0"/>
            <a:chExt cx="71996" cy="50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113151" y="4306129"/>
            <a:ext cx="8279101" cy="415500"/>
            <a:chOff x="0" y="0"/>
            <a:chExt cx="11038802" cy="5539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838831" y="4304443"/>
            <a:ext cx="53997" cy="378000"/>
            <a:chOff x="0" y="0"/>
            <a:chExt cx="71996" cy="50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113151" y="4845777"/>
            <a:ext cx="8279101" cy="415500"/>
            <a:chOff x="0" y="0"/>
            <a:chExt cx="11038802" cy="55399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Problem Statement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838831" y="4844091"/>
            <a:ext cx="53997" cy="378000"/>
            <a:chOff x="0" y="0"/>
            <a:chExt cx="71996" cy="504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3113151" y="6062529"/>
            <a:ext cx="8279101" cy="415500"/>
            <a:chOff x="0" y="0"/>
            <a:chExt cx="11038802" cy="5539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Methodology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838831" y="6060862"/>
            <a:ext cx="53997" cy="378000"/>
            <a:chOff x="0" y="0"/>
            <a:chExt cx="71996" cy="504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113151" y="6693208"/>
            <a:ext cx="8279101" cy="415500"/>
            <a:chOff x="0" y="0"/>
            <a:chExt cx="11038802" cy="55399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038800" cy="553996"/>
            </a:xfrm>
            <a:custGeom>
              <a:avLst/>
              <a:gdLst/>
              <a:ahLst/>
              <a:cxnLst/>
              <a:rect r="r" b="b" t="t" l="l"/>
              <a:pathLst>
                <a:path h="553996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6"/>
                  </a:lnTo>
                  <a:lnTo>
                    <a:pt x="0" y="5539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4" r="0" b="-33825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1038802" cy="611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Results and Insights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838831" y="6691513"/>
            <a:ext cx="53997" cy="378000"/>
            <a:chOff x="0" y="0"/>
            <a:chExt cx="71996" cy="504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3113151" y="7285330"/>
            <a:ext cx="8279101" cy="415500"/>
            <a:chOff x="0" y="0"/>
            <a:chExt cx="11038802" cy="55399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838831" y="7283644"/>
            <a:ext cx="53997" cy="378000"/>
            <a:chOff x="0" y="0"/>
            <a:chExt cx="71996" cy="504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3113151" y="5405809"/>
            <a:ext cx="8279101" cy="415500"/>
            <a:chOff x="0" y="0"/>
            <a:chExt cx="11038802" cy="55399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Key Tasks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838831" y="5404123"/>
            <a:ext cx="53997" cy="378000"/>
            <a:chOff x="0" y="0"/>
            <a:chExt cx="71996" cy="504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244046" y="1787804"/>
            <a:ext cx="0" cy="6928250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983391" y="3904483"/>
            <a:ext cx="7079092" cy="4811571"/>
          </a:xfrm>
          <a:custGeom>
            <a:avLst/>
            <a:gdLst/>
            <a:ahLst/>
            <a:cxnLst/>
            <a:rect r="r" b="b" t="t" l="l"/>
            <a:pathLst>
              <a:path h="4811571" w="7079092">
                <a:moveTo>
                  <a:pt x="0" y="0"/>
                </a:moveTo>
                <a:lnTo>
                  <a:pt x="7079092" y="0"/>
                </a:lnTo>
                <a:lnTo>
                  <a:pt x="7079092" y="4811571"/>
                </a:lnTo>
                <a:lnTo>
                  <a:pt x="0" y="4811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512222" y="3904483"/>
            <a:ext cx="7106320" cy="4811571"/>
          </a:xfrm>
          <a:custGeom>
            <a:avLst/>
            <a:gdLst/>
            <a:ahLst/>
            <a:cxnLst/>
            <a:rect r="r" b="b" t="t" l="l"/>
            <a:pathLst>
              <a:path h="4811571" w="7106320">
                <a:moveTo>
                  <a:pt x="0" y="0"/>
                </a:moveTo>
                <a:lnTo>
                  <a:pt x="7106320" y="0"/>
                </a:lnTo>
                <a:lnTo>
                  <a:pt x="7106320" y="4811571"/>
                </a:lnTo>
                <a:lnTo>
                  <a:pt x="0" y="4811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50084" y="1137099"/>
            <a:ext cx="10512904" cy="115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44046" y="2200384"/>
            <a:ext cx="1563687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sz="5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Solving</a:t>
            </a:r>
            <a:r>
              <a:rPr lang="en-US" sz="5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Real-Time Hospital Patient Monitoring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3105807"/>
            <a:chOff x="0" y="0"/>
            <a:chExt cx="24384000" cy="41410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141089"/>
            </a:xfrm>
            <a:custGeom>
              <a:avLst/>
              <a:gdLst/>
              <a:ahLst/>
              <a:cxnLst/>
              <a:rect r="r" b="b" t="t" l="l"/>
              <a:pathLst>
                <a:path h="414108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141089"/>
                  </a:lnTo>
                  <a:lnTo>
                    <a:pt x="0" y="4141089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55081" y="1279141"/>
            <a:ext cx="7433548" cy="88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Agenda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113151" y="3722513"/>
            <a:ext cx="8279101" cy="415500"/>
            <a:chOff x="0" y="0"/>
            <a:chExt cx="11038802" cy="5539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Team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838831" y="3720827"/>
            <a:ext cx="53997" cy="378000"/>
            <a:chOff x="0" y="0"/>
            <a:chExt cx="71996" cy="50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093720" y="5449967"/>
            <a:ext cx="8279101" cy="415500"/>
            <a:chOff x="0" y="0"/>
            <a:chExt cx="11038802" cy="5539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Methodology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819400" y="5448300"/>
            <a:ext cx="53997" cy="378000"/>
            <a:chOff x="0" y="0"/>
            <a:chExt cx="71996" cy="50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113151" y="6693208"/>
            <a:ext cx="8279101" cy="415500"/>
            <a:chOff x="0" y="0"/>
            <a:chExt cx="11038802" cy="55399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38800" cy="553996"/>
            </a:xfrm>
            <a:custGeom>
              <a:avLst/>
              <a:gdLst/>
              <a:ahLst/>
              <a:cxnLst/>
              <a:rect r="r" b="b" t="t" l="l"/>
              <a:pathLst>
                <a:path h="553996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6"/>
                  </a:lnTo>
                  <a:lnTo>
                    <a:pt x="0" y="5539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4" r="0" b="-33825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1038802" cy="611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Results and Insights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838831" y="6691513"/>
            <a:ext cx="53997" cy="378000"/>
            <a:chOff x="0" y="0"/>
            <a:chExt cx="71996" cy="504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3113151" y="7285330"/>
            <a:ext cx="8279101" cy="415500"/>
            <a:chOff x="0" y="0"/>
            <a:chExt cx="11038802" cy="5539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838831" y="7283644"/>
            <a:ext cx="53997" cy="378000"/>
            <a:chOff x="0" y="0"/>
            <a:chExt cx="71996" cy="504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113151" y="4306129"/>
            <a:ext cx="8279101" cy="415500"/>
            <a:chOff x="0" y="0"/>
            <a:chExt cx="11038802" cy="55399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838831" y="4304443"/>
            <a:ext cx="53997" cy="378000"/>
            <a:chOff x="0" y="0"/>
            <a:chExt cx="71996" cy="504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3093720" y="6059586"/>
            <a:ext cx="8279101" cy="415500"/>
            <a:chOff x="0" y="0"/>
            <a:chExt cx="11038802" cy="55399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Key Tasks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819400" y="6057900"/>
            <a:ext cx="53997" cy="378000"/>
            <a:chOff x="0" y="0"/>
            <a:chExt cx="71996" cy="504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3113151" y="4845777"/>
            <a:ext cx="8279101" cy="415500"/>
            <a:chOff x="0" y="0"/>
            <a:chExt cx="11038802" cy="55399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838831" y="4844091"/>
            <a:ext cx="53997" cy="378000"/>
            <a:chOff x="0" y="0"/>
            <a:chExt cx="71996" cy="504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42480">
            <a:off x="515950" y="4950752"/>
            <a:ext cx="4355287" cy="0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3343351" y="4646625"/>
            <a:ext cx="14174981" cy="2917619"/>
          </a:xfrm>
          <a:custGeom>
            <a:avLst/>
            <a:gdLst/>
            <a:ahLst/>
            <a:cxnLst/>
            <a:rect r="r" b="b" t="t" l="l"/>
            <a:pathLst>
              <a:path h="2917619" w="14174981">
                <a:moveTo>
                  <a:pt x="0" y="0"/>
                </a:moveTo>
                <a:lnTo>
                  <a:pt x="14174981" y="0"/>
                </a:lnTo>
                <a:lnTo>
                  <a:pt x="14174981" y="2917619"/>
                </a:lnTo>
                <a:lnTo>
                  <a:pt x="0" y="29176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57401" y="1908239"/>
            <a:ext cx="5526881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METHODOLOGY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34249" y="2955989"/>
            <a:ext cx="1508408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sz="5199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En</a:t>
            </a:r>
            <a:r>
              <a:rPr lang="en-US" sz="5199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d-to-End Implementation Workflow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794077" y="7347143"/>
            <a:ext cx="5493923" cy="4972001"/>
          </a:xfrm>
          <a:custGeom>
            <a:avLst/>
            <a:gdLst/>
            <a:ahLst/>
            <a:cxnLst/>
            <a:rect r="r" b="b" t="t" l="l"/>
            <a:pathLst>
              <a:path h="4972001" w="5493923">
                <a:moveTo>
                  <a:pt x="0" y="0"/>
                </a:moveTo>
                <a:lnTo>
                  <a:pt x="5493923" y="0"/>
                </a:lnTo>
                <a:lnTo>
                  <a:pt x="5493923" y="4972001"/>
                </a:lnTo>
                <a:lnTo>
                  <a:pt x="0" y="4972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3105807"/>
            <a:chOff x="0" y="0"/>
            <a:chExt cx="24384000" cy="41410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141089"/>
            </a:xfrm>
            <a:custGeom>
              <a:avLst/>
              <a:gdLst/>
              <a:ahLst/>
              <a:cxnLst/>
              <a:rect r="r" b="b" t="t" l="l"/>
              <a:pathLst>
                <a:path h="414108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141089"/>
                  </a:lnTo>
                  <a:lnTo>
                    <a:pt x="0" y="4141089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55081" y="1279141"/>
            <a:ext cx="7433548" cy="88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Agenda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113151" y="3722513"/>
            <a:ext cx="8279101" cy="415500"/>
            <a:chOff x="0" y="0"/>
            <a:chExt cx="11038802" cy="5539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Team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838831" y="3720827"/>
            <a:ext cx="53997" cy="378000"/>
            <a:chOff x="0" y="0"/>
            <a:chExt cx="71996" cy="50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093720" y="5449967"/>
            <a:ext cx="8279101" cy="415500"/>
            <a:chOff x="0" y="0"/>
            <a:chExt cx="11038802" cy="5539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Methodology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819400" y="5448300"/>
            <a:ext cx="53997" cy="378000"/>
            <a:chOff x="0" y="0"/>
            <a:chExt cx="71996" cy="50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113151" y="6693208"/>
            <a:ext cx="8279101" cy="415500"/>
            <a:chOff x="0" y="0"/>
            <a:chExt cx="11038802" cy="55399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38800" cy="553996"/>
            </a:xfrm>
            <a:custGeom>
              <a:avLst/>
              <a:gdLst/>
              <a:ahLst/>
              <a:cxnLst/>
              <a:rect r="r" b="b" t="t" l="l"/>
              <a:pathLst>
                <a:path h="553996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6"/>
                  </a:lnTo>
                  <a:lnTo>
                    <a:pt x="0" y="5539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4" r="0" b="-33825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1038802" cy="611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Results and Insights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838831" y="6691513"/>
            <a:ext cx="53997" cy="378000"/>
            <a:chOff x="0" y="0"/>
            <a:chExt cx="71996" cy="504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3113151" y="7285330"/>
            <a:ext cx="8279101" cy="415500"/>
            <a:chOff x="0" y="0"/>
            <a:chExt cx="11038802" cy="5539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838831" y="7283644"/>
            <a:ext cx="53997" cy="378000"/>
            <a:chOff x="0" y="0"/>
            <a:chExt cx="71996" cy="504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113151" y="7880852"/>
            <a:ext cx="8279101" cy="415500"/>
            <a:chOff x="0" y="0"/>
            <a:chExt cx="11038802" cy="55399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Q&amp;A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838831" y="7879166"/>
            <a:ext cx="53997" cy="378000"/>
            <a:chOff x="0" y="0"/>
            <a:chExt cx="71996" cy="504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3113151" y="4306129"/>
            <a:ext cx="8279101" cy="415500"/>
            <a:chOff x="0" y="0"/>
            <a:chExt cx="11038802" cy="55399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838831" y="4304443"/>
            <a:ext cx="53997" cy="378000"/>
            <a:chOff x="0" y="0"/>
            <a:chExt cx="71996" cy="504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3093720" y="6059586"/>
            <a:ext cx="8279101" cy="415500"/>
            <a:chOff x="0" y="0"/>
            <a:chExt cx="11038802" cy="55399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Key Tasks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819400" y="6057900"/>
            <a:ext cx="53997" cy="378000"/>
            <a:chOff x="0" y="0"/>
            <a:chExt cx="71996" cy="504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3113151" y="4845777"/>
            <a:ext cx="8279101" cy="415500"/>
            <a:chOff x="0" y="0"/>
            <a:chExt cx="11038802" cy="55399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838831" y="4844091"/>
            <a:ext cx="53997" cy="378000"/>
            <a:chOff x="0" y="0"/>
            <a:chExt cx="71996" cy="504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43135" y="370513"/>
            <a:ext cx="2952969" cy="786136"/>
            <a:chOff x="0" y="0"/>
            <a:chExt cx="3937292" cy="1048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37254" cy="1048131"/>
            </a:xfrm>
            <a:custGeom>
              <a:avLst/>
              <a:gdLst/>
              <a:ahLst/>
              <a:cxnLst/>
              <a:rect r="r" b="b" t="t" l="l"/>
              <a:pathLst>
                <a:path h="1048131" w="3937254">
                  <a:moveTo>
                    <a:pt x="0" y="0"/>
                  </a:moveTo>
                  <a:lnTo>
                    <a:pt x="3937254" y="0"/>
                  </a:lnTo>
                  <a:lnTo>
                    <a:pt x="3937254" y="1048131"/>
                  </a:lnTo>
                  <a:lnTo>
                    <a:pt x="0" y="1048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2312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15810" y="605933"/>
            <a:ext cx="2513352" cy="315287"/>
          </a:xfrm>
          <a:custGeom>
            <a:avLst/>
            <a:gdLst/>
            <a:ahLst/>
            <a:cxnLst/>
            <a:rect r="r" b="b" t="t" l="l"/>
            <a:pathLst>
              <a:path h="315287" w="2513352">
                <a:moveTo>
                  <a:pt x="0" y="0"/>
                </a:moveTo>
                <a:lnTo>
                  <a:pt x="2513352" y="0"/>
                </a:lnTo>
                <a:lnTo>
                  <a:pt x="2513352" y="315287"/>
                </a:lnTo>
                <a:lnTo>
                  <a:pt x="0" y="315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6785" y="4359042"/>
            <a:ext cx="5239021" cy="1499361"/>
          </a:xfrm>
          <a:custGeom>
            <a:avLst/>
            <a:gdLst/>
            <a:ahLst/>
            <a:cxnLst/>
            <a:rect r="r" b="b" t="t" l="l"/>
            <a:pathLst>
              <a:path h="1499361" w="5239021">
                <a:moveTo>
                  <a:pt x="0" y="0"/>
                </a:moveTo>
                <a:lnTo>
                  <a:pt x="5239021" y="0"/>
                </a:lnTo>
                <a:lnTo>
                  <a:pt x="5239021" y="1499361"/>
                </a:lnTo>
                <a:lnTo>
                  <a:pt x="0" y="14993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6084" b="-1636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6785" y="7170399"/>
            <a:ext cx="5239021" cy="1529405"/>
          </a:xfrm>
          <a:custGeom>
            <a:avLst/>
            <a:gdLst/>
            <a:ahLst/>
            <a:cxnLst/>
            <a:rect r="r" b="b" t="t" l="l"/>
            <a:pathLst>
              <a:path h="1529405" w="5239021">
                <a:moveTo>
                  <a:pt x="0" y="0"/>
                </a:moveTo>
                <a:lnTo>
                  <a:pt x="5239021" y="0"/>
                </a:lnTo>
                <a:lnTo>
                  <a:pt x="5239021" y="1529405"/>
                </a:lnTo>
                <a:lnTo>
                  <a:pt x="0" y="15294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726" r="0" b="-2726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743536" y="4405078"/>
            <a:ext cx="5637914" cy="1476844"/>
          </a:xfrm>
          <a:custGeom>
            <a:avLst/>
            <a:gdLst/>
            <a:ahLst/>
            <a:cxnLst/>
            <a:rect r="r" b="b" t="t" l="l"/>
            <a:pathLst>
              <a:path h="1476844" w="5637914">
                <a:moveTo>
                  <a:pt x="0" y="0"/>
                </a:moveTo>
                <a:lnTo>
                  <a:pt x="5637914" y="0"/>
                </a:lnTo>
                <a:lnTo>
                  <a:pt x="5637914" y="1476844"/>
                </a:lnTo>
                <a:lnTo>
                  <a:pt x="0" y="14768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402" r="0" b="-1402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743536" y="7293920"/>
            <a:ext cx="5637914" cy="1450962"/>
          </a:xfrm>
          <a:custGeom>
            <a:avLst/>
            <a:gdLst/>
            <a:ahLst/>
            <a:cxnLst/>
            <a:rect r="r" b="b" t="t" l="l"/>
            <a:pathLst>
              <a:path h="1450962" w="5637914">
                <a:moveTo>
                  <a:pt x="0" y="0"/>
                </a:moveTo>
                <a:lnTo>
                  <a:pt x="5637914" y="0"/>
                </a:lnTo>
                <a:lnTo>
                  <a:pt x="5637914" y="1450963"/>
                </a:lnTo>
                <a:lnTo>
                  <a:pt x="0" y="14509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3080" r="-2398" b="-895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686250" y="4517669"/>
            <a:ext cx="6190247" cy="1364253"/>
          </a:xfrm>
          <a:custGeom>
            <a:avLst/>
            <a:gdLst/>
            <a:ahLst/>
            <a:cxnLst/>
            <a:rect r="r" b="b" t="t" l="l"/>
            <a:pathLst>
              <a:path h="1364253" w="6190247">
                <a:moveTo>
                  <a:pt x="0" y="0"/>
                </a:moveTo>
                <a:lnTo>
                  <a:pt x="6190247" y="0"/>
                </a:lnTo>
                <a:lnTo>
                  <a:pt x="6190247" y="1364253"/>
                </a:lnTo>
                <a:lnTo>
                  <a:pt x="0" y="13642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703" r="-3204" b="-703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761308" y="7369556"/>
            <a:ext cx="6040131" cy="1131092"/>
          </a:xfrm>
          <a:custGeom>
            <a:avLst/>
            <a:gdLst/>
            <a:ahLst/>
            <a:cxnLst/>
            <a:rect r="r" b="b" t="t" l="l"/>
            <a:pathLst>
              <a:path h="1131092" w="6040131">
                <a:moveTo>
                  <a:pt x="0" y="0"/>
                </a:moveTo>
                <a:lnTo>
                  <a:pt x="6040131" y="0"/>
                </a:lnTo>
                <a:lnTo>
                  <a:pt x="6040131" y="1131092"/>
                </a:lnTo>
                <a:lnTo>
                  <a:pt x="0" y="11310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3488" r="0" b="-10361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174959" y="1997072"/>
            <a:ext cx="4586350" cy="2361970"/>
          </a:xfrm>
          <a:custGeom>
            <a:avLst/>
            <a:gdLst/>
            <a:ahLst/>
            <a:cxnLst/>
            <a:rect r="r" b="b" t="t" l="l"/>
            <a:pathLst>
              <a:path h="2361970" w="4586350">
                <a:moveTo>
                  <a:pt x="0" y="0"/>
                </a:moveTo>
                <a:lnTo>
                  <a:pt x="4586349" y="0"/>
                </a:lnTo>
                <a:lnTo>
                  <a:pt x="4586349" y="2361970"/>
                </a:lnTo>
                <a:lnTo>
                  <a:pt x="0" y="23619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82040" y="2531745"/>
            <a:ext cx="5772448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Generation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43135" y="370513"/>
            <a:ext cx="2952969" cy="786136"/>
            <a:chOff x="0" y="0"/>
            <a:chExt cx="3937292" cy="1048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37254" cy="1048131"/>
            </a:xfrm>
            <a:custGeom>
              <a:avLst/>
              <a:gdLst/>
              <a:ahLst/>
              <a:cxnLst/>
              <a:rect r="r" b="b" t="t" l="l"/>
              <a:pathLst>
                <a:path h="1048131" w="3937254">
                  <a:moveTo>
                    <a:pt x="0" y="0"/>
                  </a:moveTo>
                  <a:lnTo>
                    <a:pt x="3937254" y="0"/>
                  </a:lnTo>
                  <a:lnTo>
                    <a:pt x="3937254" y="1048131"/>
                  </a:lnTo>
                  <a:lnTo>
                    <a:pt x="0" y="1048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2312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15810" y="605933"/>
            <a:ext cx="2513352" cy="315287"/>
          </a:xfrm>
          <a:custGeom>
            <a:avLst/>
            <a:gdLst/>
            <a:ahLst/>
            <a:cxnLst/>
            <a:rect r="r" b="b" t="t" l="l"/>
            <a:pathLst>
              <a:path h="315287" w="2513352">
                <a:moveTo>
                  <a:pt x="0" y="0"/>
                </a:moveTo>
                <a:lnTo>
                  <a:pt x="2513352" y="0"/>
                </a:lnTo>
                <a:lnTo>
                  <a:pt x="2513352" y="315287"/>
                </a:lnTo>
                <a:lnTo>
                  <a:pt x="0" y="315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4398075"/>
            <a:ext cx="9922591" cy="1530758"/>
          </a:xfrm>
          <a:custGeom>
            <a:avLst/>
            <a:gdLst/>
            <a:ahLst/>
            <a:cxnLst/>
            <a:rect r="r" b="b" t="t" l="l"/>
            <a:pathLst>
              <a:path h="1530758" w="9922591">
                <a:moveTo>
                  <a:pt x="0" y="0"/>
                </a:moveTo>
                <a:lnTo>
                  <a:pt x="9922591" y="0"/>
                </a:lnTo>
                <a:lnTo>
                  <a:pt x="9922591" y="1530758"/>
                </a:lnTo>
                <a:lnTo>
                  <a:pt x="0" y="15307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6241132"/>
            <a:ext cx="9922591" cy="1603926"/>
          </a:xfrm>
          <a:custGeom>
            <a:avLst/>
            <a:gdLst/>
            <a:ahLst/>
            <a:cxnLst/>
            <a:rect r="r" b="b" t="t" l="l"/>
            <a:pathLst>
              <a:path h="1603926" w="9922591">
                <a:moveTo>
                  <a:pt x="0" y="0"/>
                </a:moveTo>
                <a:lnTo>
                  <a:pt x="9922591" y="0"/>
                </a:lnTo>
                <a:lnTo>
                  <a:pt x="9922591" y="1603926"/>
                </a:lnTo>
                <a:lnTo>
                  <a:pt x="0" y="16039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8157358"/>
            <a:ext cx="9922591" cy="1666020"/>
          </a:xfrm>
          <a:custGeom>
            <a:avLst/>
            <a:gdLst/>
            <a:ahLst/>
            <a:cxnLst/>
            <a:rect r="r" b="b" t="t" l="l"/>
            <a:pathLst>
              <a:path h="1666020" w="9922591">
                <a:moveTo>
                  <a:pt x="0" y="0"/>
                </a:moveTo>
                <a:lnTo>
                  <a:pt x="9922591" y="0"/>
                </a:lnTo>
                <a:lnTo>
                  <a:pt x="9922591" y="1666019"/>
                </a:lnTo>
                <a:lnTo>
                  <a:pt x="0" y="16660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714" t="-1324" r="0" b="-1324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20143" y="4398075"/>
            <a:ext cx="4715726" cy="5425302"/>
          </a:xfrm>
          <a:custGeom>
            <a:avLst/>
            <a:gdLst/>
            <a:ahLst/>
            <a:cxnLst/>
            <a:rect r="r" b="b" t="t" l="l"/>
            <a:pathLst>
              <a:path h="5425302" w="4715726">
                <a:moveTo>
                  <a:pt x="0" y="0"/>
                </a:moveTo>
                <a:lnTo>
                  <a:pt x="4715725" y="0"/>
                </a:lnTo>
                <a:lnTo>
                  <a:pt x="4715725" y="5425302"/>
                </a:lnTo>
                <a:lnTo>
                  <a:pt x="0" y="542530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66390" y="8622560"/>
            <a:ext cx="2621610" cy="1271481"/>
          </a:xfrm>
          <a:custGeom>
            <a:avLst/>
            <a:gdLst/>
            <a:ahLst/>
            <a:cxnLst/>
            <a:rect r="r" b="b" t="t" l="l"/>
            <a:pathLst>
              <a:path h="1271481" w="2621610">
                <a:moveTo>
                  <a:pt x="0" y="0"/>
                </a:moveTo>
                <a:lnTo>
                  <a:pt x="2621610" y="0"/>
                </a:lnTo>
                <a:lnTo>
                  <a:pt x="2621610" y="1271480"/>
                </a:lnTo>
                <a:lnTo>
                  <a:pt x="0" y="12714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15810" y="2284095"/>
            <a:ext cx="9037320" cy="1159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Ingestion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5810" y="3348276"/>
            <a:ext cx="11104333" cy="1547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6"/>
              </a:lnSpc>
            </a:pPr>
            <a:r>
              <a:rPr lang="en-US" sz="443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Stre</a:t>
            </a:r>
            <a:r>
              <a:rPr lang="en-US" b="true" sz="443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aming Ingestion Engine (Kafka to S3)</a:t>
            </a:r>
          </a:p>
          <a:p>
            <a:pPr algn="l">
              <a:lnSpc>
                <a:spcPts val="6206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43135" y="370513"/>
            <a:ext cx="2952969" cy="786136"/>
            <a:chOff x="0" y="0"/>
            <a:chExt cx="3937292" cy="1048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37254" cy="1048131"/>
            </a:xfrm>
            <a:custGeom>
              <a:avLst/>
              <a:gdLst/>
              <a:ahLst/>
              <a:cxnLst/>
              <a:rect r="r" b="b" t="t" l="l"/>
              <a:pathLst>
                <a:path h="1048131" w="3937254">
                  <a:moveTo>
                    <a:pt x="0" y="0"/>
                  </a:moveTo>
                  <a:lnTo>
                    <a:pt x="3937254" y="0"/>
                  </a:lnTo>
                  <a:lnTo>
                    <a:pt x="3937254" y="1048131"/>
                  </a:lnTo>
                  <a:lnTo>
                    <a:pt x="0" y="1048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2312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15810" y="605933"/>
            <a:ext cx="2513352" cy="315287"/>
          </a:xfrm>
          <a:custGeom>
            <a:avLst/>
            <a:gdLst/>
            <a:ahLst/>
            <a:cxnLst/>
            <a:rect r="r" b="b" t="t" l="l"/>
            <a:pathLst>
              <a:path h="315287" w="2513352">
                <a:moveTo>
                  <a:pt x="0" y="0"/>
                </a:moveTo>
                <a:lnTo>
                  <a:pt x="2513352" y="0"/>
                </a:lnTo>
                <a:lnTo>
                  <a:pt x="2513352" y="315287"/>
                </a:lnTo>
                <a:lnTo>
                  <a:pt x="0" y="315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5810" y="5756577"/>
            <a:ext cx="5721767" cy="2904034"/>
          </a:xfrm>
          <a:custGeom>
            <a:avLst/>
            <a:gdLst/>
            <a:ahLst/>
            <a:cxnLst/>
            <a:rect r="r" b="b" t="t" l="l"/>
            <a:pathLst>
              <a:path h="2904034" w="5721767">
                <a:moveTo>
                  <a:pt x="0" y="0"/>
                </a:moveTo>
                <a:lnTo>
                  <a:pt x="5721766" y="0"/>
                </a:lnTo>
                <a:lnTo>
                  <a:pt x="5721766" y="2904034"/>
                </a:lnTo>
                <a:lnTo>
                  <a:pt x="0" y="29040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880" t="-9035" r="-12904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881216" y="5756577"/>
            <a:ext cx="5033385" cy="2858837"/>
          </a:xfrm>
          <a:custGeom>
            <a:avLst/>
            <a:gdLst/>
            <a:ahLst/>
            <a:cxnLst/>
            <a:rect r="r" b="b" t="t" l="l"/>
            <a:pathLst>
              <a:path h="2858837" w="5033385">
                <a:moveTo>
                  <a:pt x="0" y="0"/>
                </a:moveTo>
                <a:lnTo>
                  <a:pt x="5033386" y="0"/>
                </a:lnTo>
                <a:lnTo>
                  <a:pt x="5033386" y="2858837"/>
                </a:lnTo>
                <a:lnTo>
                  <a:pt x="0" y="28588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39095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62252" y="5756577"/>
            <a:ext cx="5925814" cy="2858837"/>
          </a:xfrm>
          <a:custGeom>
            <a:avLst/>
            <a:gdLst/>
            <a:ahLst/>
            <a:cxnLst/>
            <a:rect r="r" b="b" t="t" l="l"/>
            <a:pathLst>
              <a:path h="2858837" w="5925814">
                <a:moveTo>
                  <a:pt x="0" y="0"/>
                </a:moveTo>
                <a:lnTo>
                  <a:pt x="5925814" y="0"/>
                </a:lnTo>
                <a:lnTo>
                  <a:pt x="5925814" y="2858837"/>
                </a:lnTo>
                <a:lnTo>
                  <a:pt x="0" y="28588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89" t="0" r="-28659" b="-909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135097" y="1825139"/>
            <a:ext cx="2952969" cy="3262949"/>
          </a:xfrm>
          <a:custGeom>
            <a:avLst/>
            <a:gdLst/>
            <a:ahLst/>
            <a:cxnLst/>
            <a:rect r="r" b="b" t="t" l="l"/>
            <a:pathLst>
              <a:path h="3262949" w="2952969">
                <a:moveTo>
                  <a:pt x="0" y="0"/>
                </a:moveTo>
                <a:lnTo>
                  <a:pt x="2952969" y="0"/>
                </a:lnTo>
                <a:lnTo>
                  <a:pt x="2952969" y="3262949"/>
                </a:lnTo>
                <a:lnTo>
                  <a:pt x="0" y="32629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15810" y="2531745"/>
            <a:ext cx="7253288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Transformation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5810" y="3595926"/>
            <a:ext cx="11523551" cy="1547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6"/>
              </a:lnSpc>
            </a:pPr>
            <a:r>
              <a:rPr lang="en-US" sz="443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Lakehouse Architecture</a:t>
            </a:r>
            <a:r>
              <a:rPr lang="en-US" b="true" sz="443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&amp; Early Validation</a:t>
            </a:r>
          </a:p>
          <a:p>
            <a:pPr algn="l">
              <a:lnSpc>
                <a:spcPts val="6206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43135" y="370513"/>
            <a:ext cx="2952969" cy="786136"/>
            <a:chOff x="0" y="0"/>
            <a:chExt cx="3937292" cy="1048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37254" cy="1048131"/>
            </a:xfrm>
            <a:custGeom>
              <a:avLst/>
              <a:gdLst/>
              <a:ahLst/>
              <a:cxnLst/>
              <a:rect r="r" b="b" t="t" l="l"/>
              <a:pathLst>
                <a:path h="1048131" w="3937254">
                  <a:moveTo>
                    <a:pt x="0" y="0"/>
                  </a:moveTo>
                  <a:lnTo>
                    <a:pt x="3937254" y="0"/>
                  </a:lnTo>
                  <a:lnTo>
                    <a:pt x="3937254" y="1048131"/>
                  </a:lnTo>
                  <a:lnTo>
                    <a:pt x="0" y="1048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2312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15810" y="605933"/>
            <a:ext cx="2513352" cy="315287"/>
          </a:xfrm>
          <a:custGeom>
            <a:avLst/>
            <a:gdLst/>
            <a:ahLst/>
            <a:cxnLst/>
            <a:rect r="r" b="b" t="t" l="l"/>
            <a:pathLst>
              <a:path h="315287" w="2513352">
                <a:moveTo>
                  <a:pt x="0" y="0"/>
                </a:moveTo>
                <a:lnTo>
                  <a:pt x="2513352" y="0"/>
                </a:lnTo>
                <a:lnTo>
                  <a:pt x="2513352" y="315287"/>
                </a:lnTo>
                <a:lnTo>
                  <a:pt x="0" y="315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05460" y="4166913"/>
            <a:ext cx="16877079" cy="1953175"/>
          </a:xfrm>
          <a:custGeom>
            <a:avLst/>
            <a:gdLst/>
            <a:ahLst/>
            <a:cxnLst/>
            <a:rect r="r" b="b" t="t" l="l"/>
            <a:pathLst>
              <a:path h="1953175" w="16877079">
                <a:moveTo>
                  <a:pt x="0" y="0"/>
                </a:moveTo>
                <a:lnTo>
                  <a:pt x="16877080" y="0"/>
                </a:lnTo>
                <a:lnTo>
                  <a:pt x="16877080" y="1953174"/>
                </a:lnTo>
                <a:lnTo>
                  <a:pt x="0" y="19531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19025" y="6851812"/>
            <a:ext cx="16877079" cy="2749331"/>
          </a:xfrm>
          <a:custGeom>
            <a:avLst/>
            <a:gdLst/>
            <a:ahLst/>
            <a:cxnLst/>
            <a:rect r="r" b="b" t="t" l="l"/>
            <a:pathLst>
              <a:path h="2749331" w="16877079">
                <a:moveTo>
                  <a:pt x="0" y="0"/>
                </a:moveTo>
                <a:lnTo>
                  <a:pt x="16877079" y="0"/>
                </a:lnTo>
                <a:lnTo>
                  <a:pt x="16877079" y="2749331"/>
                </a:lnTo>
                <a:lnTo>
                  <a:pt x="0" y="2749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9025" y="1663260"/>
            <a:ext cx="7253288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Transformation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9025" y="2711010"/>
            <a:ext cx="11974195" cy="1547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6"/>
              </a:lnSpc>
            </a:pPr>
            <a:r>
              <a:rPr lang="en-US" sz="443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  <a:r>
              <a:rPr lang="en-US" b="true" sz="443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ilver-to-Gold Analytical Marts (5 Datasets)</a:t>
            </a:r>
          </a:p>
          <a:p>
            <a:pPr algn="l">
              <a:lnSpc>
                <a:spcPts val="6206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43135" y="370513"/>
            <a:ext cx="2952969" cy="786136"/>
            <a:chOff x="0" y="0"/>
            <a:chExt cx="3937292" cy="1048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37254" cy="1048131"/>
            </a:xfrm>
            <a:custGeom>
              <a:avLst/>
              <a:gdLst/>
              <a:ahLst/>
              <a:cxnLst/>
              <a:rect r="r" b="b" t="t" l="l"/>
              <a:pathLst>
                <a:path h="1048131" w="3937254">
                  <a:moveTo>
                    <a:pt x="0" y="0"/>
                  </a:moveTo>
                  <a:lnTo>
                    <a:pt x="3937254" y="0"/>
                  </a:lnTo>
                  <a:lnTo>
                    <a:pt x="3937254" y="1048131"/>
                  </a:lnTo>
                  <a:lnTo>
                    <a:pt x="0" y="1048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2312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15810" y="605933"/>
            <a:ext cx="2513352" cy="315287"/>
          </a:xfrm>
          <a:custGeom>
            <a:avLst/>
            <a:gdLst/>
            <a:ahLst/>
            <a:cxnLst/>
            <a:rect r="r" b="b" t="t" l="l"/>
            <a:pathLst>
              <a:path h="315287" w="2513352">
                <a:moveTo>
                  <a:pt x="0" y="0"/>
                </a:moveTo>
                <a:lnTo>
                  <a:pt x="2513352" y="0"/>
                </a:lnTo>
                <a:lnTo>
                  <a:pt x="2513352" y="315287"/>
                </a:lnTo>
                <a:lnTo>
                  <a:pt x="0" y="315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25424" y="2999822"/>
            <a:ext cx="2834640" cy="2331720"/>
            <a:chOff x="0" y="0"/>
            <a:chExt cx="3779520" cy="3108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79520" cy="3108960"/>
            </a:xfrm>
            <a:custGeom>
              <a:avLst/>
              <a:gdLst/>
              <a:ahLst/>
              <a:cxnLst/>
              <a:rect r="r" b="b" t="t" l="l"/>
              <a:pathLst>
                <a:path h="3108960" w="3779520">
                  <a:moveTo>
                    <a:pt x="0" y="155448"/>
                  </a:moveTo>
                  <a:cubicBezTo>
                    <a:pt x="0" y="69596"/>
                    <a:pt x="69596" y="0"/>
                    <a:pt x="155448" y="0"/>
                  </a:cubicBezTo>
                  <a:lnTo>
                    <a:pt x="3624072" y="0"/>
                  </a:lnTo>
                  <a:cubicBezTo>
                    <a:pt x="3709924" y="0"/>
                    <a:pt x="3779520" y="69596"/>
                    <a:pt x="3779520" y="155448"/>
                  </a:cubicBezTo>
                  <a:lnTo>
                    <a:pt x="3779520" y="2953512"/>
                  </a:lnTo>
                  <a:cubicBezTo>
                    <a:pt x="3779520" y="3039364"/>
                    <a:pt x="3709924" y="3108960"/>
                    <a:pt x="3624072" y="3108960"/>
                  </a:cubicBezTo>
                  <a:lnTo>
                    <a:pt x="155448" y="3108960"/>
                  </a:lnTo>
                  <a:cubicBezTo>
                    <a:pt x="69596" y="3108960"/>
                    <a:pt x="0" y="3039364"/>
                    <a:pt x="0" y="29535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779520" cy="3166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D1F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S3 Silver</a:t>
              </a:r>
            </a:p>
            <a:p>
              <a:pPr algn="ctr">
                <a:lnSpc>
                  <a:spcPts val="7920"/>
                </a:lnSpc>
              </a:pPr>
              <a:r>
                <a:rPr lang="en-US" sz="6600" b="true">
                  <a:solidFill>
                    <a:srgbClr val="193EB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4A58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Parquet datasets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691509" y="3982802"/>
            <a:ext cx="411480" cy="365760"/>
            <a:chOff x="0" y="0"/>
            <a:chExt cx="548640" cy="487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8640" cy="487680"/>
            </a:xfrm>
            <a:custGeom>
              <a:avLst/>
              <a:gdLst/>
              <a:ahLst/>
              <a:cxnLst/>
              <a:rect r="r" b="b" t="t" l="l"/>
              <a:pathLst>
                <a:path h="487680" w="548640">
                  <a:moveTo>
                    <a:pt x="0" y="121920"/>
                  </a:moveTo>
                  <a:lnTo>
                    <a:pt x="304800" y="121920"/>
                  </a:lnTo>
                  <a:lnTo>
                    <a:pt x="304800" y="0"/>
                  </a:lnTo>
                  <a:lnTo>
                    <a:pt x="548640" y="243840"/>
                  </a:lnTo>
                  <a:lnTo>
                    <a:pt x="304800" y="487680"/>
                  </a:lnTo>
                  <a:lnTo>
                    <a:pt x="304800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234434" y="2999822"/>
            <a:ext cx="2834640" cy="2331720"/>
            <a:chOff x="0" y="0"/>
            <a:chExt cx="3779520" cy="31089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79520" cy="3108960"/>
            </a:xfrm>
            <a:custGeom>
              <a:avLst/>
              <a:gdLst/>
              <a:ahLst/>
              <a:cxnLst/>
              <a:rect r="r" b="b" t="t" l="l"/>
              <a:pathLst>
                <a:path h="3108960" w="3779520">
                  <a:moveTo>
                    <a:pt x="0" y="155448"/>
                  </a:moveTo>
                  <a:cubicBezTo>
                    <a:pt x="0" y="69596"/>
                    <a:pt x="69596" y="0"/>
                    <a:pt x="155448" y="0"/>
                  </a:cubicBezTo>
                  <a:lnTo>
                    <a:pt x="3624072" y="0"/>
                  </a:lnTo>
                  <a:cubicBezTo>
                    <a:pt x="3709924" y="0"/>
                    <a:pt x="3779520" y="69596"/>
                    <a:pt x="3779520" y="155448"/>
                  </a:cubicBezTo>
                  <a:lnTo>
                    <a:pt x="3779520" y="2953512"/>
                  </a:lnTo>
                  <a:cubicBezTo>
                    <a:pt x="3779520" y="3039364"/>
                    <a:pt x="3709924" y="3108960"/>
                    <a:pt x="3624072" y="3108960"/>
                  </a:cubicBezTo>
                  <a:lnTo>
                    <a:pt x="155448" y="3108960"/>
                  </a:lnTo>
                  <a:cubicBezTo>
                    <a:pt x="69596" y="3108960"/>
                    <a:pt x="0" y="3039364"/>
                    <a:pt x="0" y="29535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3779520" cy="3166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D1F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RAW</a:t>
              </a:r>
            </a:p>
            <a:p>
              <a:pPr algn="ctr">
                <a:lnSpc>
                  <a:spcPts val="7920"/>
                </a:lnSpc>
              </a:pPr>
              <a:r>
                <a:rPr lang="en-US" sz="6600" b="true">
                  <a:solidFill>
                    <a:srgbClr val="193EB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4A58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tables loaded as-is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200519" y="3982802"/>
            <a:ext cx="411480" cy="365760"/>
            <a:chOff x="0" y="0"/>
            <a:chExt cx="548640" cy="4876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8640" cy="487680"/>
            </a:xfrm>
            <a:custGeom>
              <a:avLst/>
              <a:gdLst/>
              <a:ahLst/>
              <a:cxnLst/>
              <a:rect r="r" b="b" t="t" l="l"/>
              <a:pathLst>
                <a:path h="487680" w="548640">
                  <a:moveTo>
                    <a:pt x="0" y="121920"/>
                  </a:moveTo>
                  <a:lnTo>
                    <a:pt x="304800" y="121920"/>
                  </a:lnTo>
                  <a:lnTo>
                    <a:pt x="304800" y="0"/>
                  </a:lnTo>
                  <a:lnTo>
                    <a:pt x="548640" y="243840"/>
                  </a:lnTo>
                  <a:lnTo>
                    <a:pt x="304800" y="487680"/>
                  </a:lnTo>
                  <a:lnTo>
                    <a:pt x="304800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743444" y="2999822"/>
            <a:ext cx="2834640" cy="2331720"/>
            <a:chOff x="0" y="0"/>
            <a:chExt cx="3779520" cy="3108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779520" cy="3108960"/>
            </a:xfrm>
            <a:custGeom>
              <a:avLst/>
              <a:gdLst/>
              <a:ahLst/>
              <a:cxnLst/>
              <a:rect r="r" b="b" t="t" l="l"/>
              <a:pathLst>
                <a:path h="3108960" w="3779520">
                  <a:moveTo>
                    <a:pt x="0" y="155448"/>
                  </a:moveTo>
                  <a:cubicBezTo>
                    <a:pt x="0" y="69596"/>
                    <a:pt x="69596" y="0"/>
                    <a:pt x="155448" y="0"/>
                  </a:cubicBezTo>
                  <a:lnTo>
                    <a:pt x="3624072" y="0"/>
                  </a:lnTo>
                  <a:cubicBezTo>
                    <a:pt x="3709924" y="0"/>
                    <a:pt x="3779520" y="69596"/>
                    <a:pt x="3779520" y="155448"/>
                  </a:cubicBezTo>
                  <a:lnTo>
                    <a:pt x="3779520" y="2953512"/>
                  </a:lnTo>
                  <a:cubicBezTo>
                    <a:pt x="3779520" y="3039364"/>
                    <a:pt x="3709924" y="3108960"/>
                    <a:pt x="3624072" y="3108960"/>
                  </a:cubicBezTo>
                  <a:lnTo>
                    <a:pt x="155448" y="3108960"/>
                  </a:lnTo>
                  <a:cubicBezTo>
                    <a:pt x="69596" y="3108960"/>
                    <a:pt x="0" y="3039364"/>
                    <a:pt x="0" y="29535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3779520" cy="3166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D1F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STAGING</a:t>
              </a:r>
            </a:p>
            <a:p>
              <a:pPr algn="ctr">
                <a:lnSpc>
                  <a:spcPts val="7920"/>
                </a:lnSpc>
              </a:pPr>
              <a:r>
                <a:rPr lang="en-US" sz="6600" b="true">
                  <a:solidFill>
                    <a:srgbClr val="193EB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4A58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clean typed views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709529" y="3982802"/>
            <a:ext cx="411480" cy="365760"/>
            <a:chOff x="0" y="0"/>
            <a:chExt cx="548640" cy="4876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8640" cy="487680"/>
            </a:xfrm>
            <a:custGeom>
              <a:avLst/>
              <a:gdLst/>
              <a:ahLst/>
              <a:cxnLst/>
              <a:rect r="r" b="b" t="t" l="l"/>
              <a:pathLst>
                <a:path h="487680" w="548640">
                  <a:moveTo>
                    <a:pt x="0" y="121920"/>
                  </a:moveTo>
                  <a:lnTo>
                    <a:pt x="304800" y="121920"/>
                  </a:lnTo>
                  <a:lnTo>
                    <a:pt x="304800" y="0"/>
                  </a:lnTo>
                  <a:lnTo>
                    <a:pt x="548640" y="243840"/>
                  </a:lnTo>
                  <a:lnTo>
                    <a:pt x="304800" y="487680"/>
                  </a:lnTo>
                  <a:lnTo>
                    <a:pt x="304800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252454" y="2999822"/>
            <a:ext cx="2834640" cy="2331720"/>
            <a:chOff x="0" y="0"/>
            <a:chExt cx="3779520" cy="31089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779520" cy="3108960"/>
            </a:xfrm>
            <a:custGeom>
              <a:avLst/>
              <a:gdLst/>
              <a:ahLst/>
              <a:cxnLst/>
              <a:rect r="r" b="b" t="t" l="l"/>
              <a:pathLst>
                <a:path h="3108960" w="3779520">
                  <a:moveTo>
                    <a:pt x="0" y="155448"/>
                  </a:moveTo>
                  <a:cubicBezTo>
                    <a:pt x="0" y="69596"/>
                    <a:pt x="69596" y="0"/>
                    <a:pt x="155448" y="0"/>
                  </a:cubicBezTo>
                  <a:lnTo>
                    <a:pt x="3624072" y="0"/>
                  </a:lnTo>
                  <a:cubicBezTo>
                    <a:pt x="3709924" y="0"/>
                    <a:pt x="3779520" y="69596"/>
                    <a:pt x="3779520" y="155448"/>
                  </a:cubicBezTo>
                  <a:lnTo>
                    <a:pt x="3779520" y="2953512"/>
                  </a:lnTo>
                  <a:cubicBezTo>
                    <a:pt x="3779520" y="3039364"/>
                    <a:pt x="3709924" y="3108960"/>
                    <a:pt x="3624072" y="3108960"/>
                  </a:cubicBezTo>
                  <a:lnTo>
                    <a:pt x="155448" y="3108960"/>
                  </a:lnTo>
                  <a:cubicBezTo>
                    <a:pt x="69596" y="3108960"/>
                    <a:pt x="0" y="3039364"/>
                    <a:pt x="0" y="29535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3779520" cy="3166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D1F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INTERMEDIATE</a:t>
              </a:r>
            </a:p>
            <a:p>
              <a:pPr algn="ctr">
                <a:lnSpc>
                  <a:spcPts val="7920"/>
                </a:lnSpc>
              </a:pPr>
              <a:r>
                <a:rPr lang="en-US" sz="6600" b="true">
                  <a:solidFill>
                    <a:srgbClr val="193EB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4A58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context-enriched views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218539" y="3982802"/>
            <a:ext cx="411480" cy="365760"/>
            <a:chOff x="0" y="0"/>
            <a:chExt cx="548640" cy="4876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8640" cy="487680"/>
            </a:xfrm>
            <a:custGeom>
              <a:avLst/>
              <a:gdLst/>
              <a:ahLst/>
              <a:cxnLst/>
              <a:rect r="r" b="b" t="t" l="l"/>
              <a:pathLst>
                <a:path h="487680" w="548640">
                  <a:moveTo>
                    <a:pt x="0" y="121920"/>
                  </a:moveTo>
                  <a:lnTo>
                    <a:pt x="304800" y="121920"/>
                  </a:lnTo>
                  <a:lnTo>
                    <a:pt x="304800" y="0"/>
                  </a:lnTo>
                  <a:lnTo>
                    <a:pt x="548640" y="243840"/>
                  </a:lnTo>
                  <a:lnTo>
                    <a:pt x="304800" y="487680"/>
                  </a:lnTo>
                  <a:lnTo>
                    <a:pt x="304800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4761464" y="2999822"/>
            <a:ext cx="2834640" cy="2331720"/>
            <a:chOff x="0" y="0"/>
            <a:chExt cx="3779520" cy="31089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779520" cy="3108960"/>
            </a:xfrm>
            <a:custGeom>
              <a:avLst/>
              <a:gdLst/>
              <a:ahLst/>
              <a:cxnLst/>
              <a:rect r="r" b="b" t="t" l="l"/>
              <a:pathLst>
                <a:path h="3108960" w="3779520">
                  <a:moveTo>
                    <a:pt x="0" y="155448"/>
                  </a:moveTo>
                  <a:cubicBezTo>
                    <a:pt x="0" y="69596"/>
                    <a:pt x="69596" y="0"/>
                    <a:pt x="155448" y="0"/>
                  </a:cubicBezTo>
                  <a:lnTo>
                    <a:pt x="3624072" y="0"/>
                  </a:lnTo>
                  <a:cubicBezTo>
                    <a:pt x="3709924" y="0"/>
                    <a:pt x="3779520" y="69596"/>
                    <a:pt x="3779520" y="155448"/>
                  </a:cubicBezTo>
                  <a:lnTo>
                    <a:pt x="3779520" y="2953512"/>
                  </a:lnTo>
                  <a:cubicBezTo>
                    <a:pt x="3779520" y="3039364"/>
                    <a:pt x="3709924" y="3108960"/>
                    <a:pt x="3624072" y="3108960"/>
                  </a:cubicBezTo>
                  <a:lnTo>
                    <a:pt x="155448" y="3108960"/>
                  </a:lnTo>
                  <a:cubicBezTo>
                    <a:pt x="69596" y="3108960"/>
                    <a:pt x="0" y="3039364"/>
                    <a:pt x="0" y="29535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3779520" cy="3166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D1F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MARTS</a:t>
              </a:r>
            </a:p>
            <a:p>
              <a:pPr algn="ctr">
                <a:lnSpc>
                  <a:spcPts val="7920"/>
                </a:lnSpc>
              </a:pPr>
              <a:r>
                <a:rPr lang="en-US" sz="6600" b="true">
                  <a:solidFill>
                    <a:srgbClr val="193EB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4A58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 dimensions + 5 facts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4382627" y="5502992"/>
            <a:ext cx="9594374" cy="4720560"/>
          </a:xfrm>
          <a:custGeom>
            <a:avLst/>
            <a:gdLst/>
            <a:ahLst/>
            <a:cxnLst/>
            <a:rect r="r" b="b" t="t" l="l"/>
            <a:pathLst>
              <a:path h="4720560" w="9594374">
                <a:moveTo>
                  <a:pt x="0" y="0"/>
                </a:moveTo>
                <a:lnTo>
                  <a:pt x="9594374" y="0"/>
                </a:lnTo>
                <a:lnTo>
                  <a:pt x="9594374" y="4720560"/>
                </a:lnTo>
                <a:lnTo>
                  <a:pt x="0" y="47205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766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6119619" y="7756366"/>
            <a:ext cx="1961413" cy="2467186"/>
          </a:xfrm>
          <a:custGeom>
            <a:avLst/>
            <a:gdLst/>
            <a:ahLst/>
            <a:cxnLst/>
            <a:rect r="r" b="b" t="t" l="l"/>
            <a:pathLst>
              <a:path h="2467186" w="1961413">
                <a:moveTo>
                  <a:pt x="0" y="0"/>
                </a:moveTo>
                <a:lnTo>
                  <a:pt x="1961413" y="0"/>
                </a:lnTo>
                <a:lnTo>
                  <a:pt x="1961413" y="2467186"/>
                </a:lnTo>
                <a:lnTo>
                  <a:pt x="0" y="24671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735789" y="1013774"/>
            <a:ext cx="5835968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Warehouse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35789" y="2061524"/>
            <a:ext cx="9239424" cy="765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6"/>
              </a:lnSpc>
            </a:pPr>
            <a:r>
              <a:rPr lang="en-US" sz="443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From S</a:t>
            </a:r>
            <a:r>
              <a:rPr lang="en-US" b="true" sz="443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ilver to Snowflake with dbt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43135" y="370513"/>
            <a:ext cx="2952969" cy="786136"/>
            <a:chOff x="0" y="0"/>
            <a:chExt cx="3937292" cy="1048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37254" cy="1048131"/>
            </a:xfrm>
            <a:custGeom>
              <a:avLst/>
              <a:gdLst/>
              <a:ahLst/>
              <a:cxnLst/>
              <a:rect r="r" b="b" t="t" l="l"/>
              <a:pathLst>
                <a:path h="1048131" w="3937254">
                  <a:moveTo>
                    <a:pt x="0" y="0"/>
                  </a:moveTo>
                  <a:lnTo>
                    <a:pt x="3937254" y="0"/>
                  </a:lnTo>
                  <a:lnTo>
                    <a:pt x="3937254" y="1048131"/>
                  </a:lnTo>
                  <a:lnTo>
                    <a:pt x="0" y="1048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2312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15810" y="605933"/>
            <a:ext cx="2513352" cy="315287"/>
          </a:xfrm>
          <a:custGeom>
            <a:avLst/>
            <a:gdLst/>
            <a:ahLst/>
            <a:cxnLst/>
            <a:rect r="r" b="b" t="t" l="l"/>
            <a:pathLst>
              <a:path h="315287" w="2513352">
                <a:moveTo>
                  <a:pt x="0" y="0"/>
                </a:moveTo>
                <a:lnTo>
                  <a:pt x="2513352" y="0"/>
                </a:lnTo>
                <a:lnTo>
                  <a:pt x="2513352" y="315287"/>
                </a:lnTo>
                <a:lnTo>
                  <a:pt x="0" y="315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228737" y="3396337"/>
            <a:ext cx="3781765" cy="973836"/>
            <a:chOff x="0" y="0"/>
            <a:chExt cx="5042353" cy="12984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42353" cy="1298448"/>
            </a:xfrm>
            <a:custGeom>
              <a:avLst/>
              <a:gdLst/>
              <a:ahLst/>
              <a:cxnLst/>
              <a:rect r="r" b="b" t="t" l="l"/>
              <a:pathLst>
                <a:path h="1298448" w="5042353">
                  <a:moveTo>
                    <a:pt x="0" y="64922"/>
                  </a:moveTo>
                  <a:cubicBezTo>
                    <a:pt x="0" y="29080"/>
                    <a:pt x="28232" y="0"/>
                    <a:pt x="63029" y="0"/>
                  </a:cubicBezTo>
                  <a:lnTo>
                    <a:pt x="4979324" y="0"/>
                  </a:lnTo>
                  <a:cubicBezTo>
                    <a:pt x="5014121" y="0"/>
                    <a:pt x="5042353" y="29080"/>
                    <a:pt x="5042353" y="64922"/>
                  </a:cubicBezTo>
                  <a:lnTo>
                    <a:pt x="5042353" y="1233526"/>
                  </a:lnTo>
                  <a:cubicBezTo>
                    <a:pt x="5042353" y="1269368"/>
                    <a:pt x="5014121" y="1298448"/>
                    <a:pt x="4979324" y="1298448"/>
                  </a:cubicBezTo>
                  <a:lnTo>
                    <a:pt x="63029" y="1298448"/>
                  </a:lnTo>
                  <a:cubicBezTo>
                    <a:pt x="28232" y="1298448"/>
                    <a:pt x="0" y="1269368"/>
                    <a:pt x="0" y="12335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042353" cy="13555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F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 facts share 7 dimensions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228737" y="6004511"/>
            <a:ext cx="3781765" cy="973836"/>
            <a:chOff x="0" y="0"/>
            <a:chExt cx="5042353" cy="12984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42353" cy="1298448"/>
            </a:xfrm>
            <a:custGeom>
              <a:avLst/>
              <a:gdLst/>
              <a:ahLst/>
              <a:cxnLst/>
              <a:rect r="r" b="b" t="t" l="l"/>
              <a:pathLst>
                <a:path h="1298448" w="5042353">
                  <a:moveTo>
                    <a:pt x="0" y="64922"/>
                  </a:moveTo>
                  <a:cubicBezTo>
                    <a:pt x="0" y="29080"/>
                    <a:pt x="28232" y="0"/>
                    <a:pt x="63029" y="0"/>
                  </a:cubicBezTo>
                  <a:lnTo>
                    <a:pt x="4979324" y="0"/>
                  </a:lnTo>
                  <a:cubicBezTo>
                    <a:pt x="5014121" y="0"/>
                    <a:pt x="5042353" y="29080"/>
                    <a:pt x="5042353" y="64922"/>
                  </a:cubicBezTo>
                  <a:lnTo>
                    <a:pt x="5042353" y="1233526"/>
                  </a:lnTo>
                  <a:cubicBezTo>
                    <a:pt x="5042353" y="1269368"/>
                    <a:pt x="5014121" y="1298448"/>
                    <a:pt x="4979324" y="1298448"/>
                  </a:cubicBezTo>
                  <a:lnTo>
                    <a:pt x="63029" y="1298448"/>
                  </a:lnTo>
                  <a:cubicBezTo>
                    <a:pt x="28232" y="1298448"/>
                    <a:pt x="0" y="1269368"/>
                    <a:pt x="0" y="12335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042353" cy="13555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F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Point-in-time context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228737" y="8612685"/>
            <a:ext cx="3781765" cy="973836"/>
            <a:chOff x="0" y="0"/>
            <a:chExt cx="5042353" cy="12984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42353" cy="1298448"/>
            </a:xfrm>
            <a:custGeom>
              <a:avLst/>
              <a:gdLst/>
              <a:ahLst/>
              <a:cxnLst/>
              <a:rect r="r" b="b" t="t" l="l"/>
              <a:pathLst>
                <a:path h="1298448" w="5042353">
                  <a:moveTo>
                    <a:pt x="0" y="64922"/>
                  </a:moveTo>
                  <a:cubicBezTo>
                    <a:pt x="0" y="29080"/>
                    <a:pt x="28232" y="0"/>
                    <a:pt x="63029" y="0"/>
                  </a:cubicBezTo>
                  <a:lnTo>
                    <a:pt x="4979324" y="0"/>
                  </a:lnTo>
                  <a:cubicBezTo>
                    <a:pt x="5014121" y="0"/>
                    <a:pt x="5042353" y="29080"/>
                    <a:pt x="5042353" y="64922"/>
                  </a:cubicBezTo>
                  <a:lnTo>
                    <a:pt x="5042353" y="1233526"/>
                  </a:lnTo>
                  <a:cubicBezTo>
                    <a:pt x="5042353" y="1269368"/>
                    <a:pt x="5014121" y="1298448"/>
                    <a:pt x="4979324" y="1298448"/>
                  </a:cubicBezTo>
                  <a:lnTo>
                    <a:pt x="63029" y="1298448"/>
                  </a:lnTo>
                  <a:cubicBezTo>
                    <a:pt x="28232" y="1298448"/>
                    <a:pt x="0" y="1269368"/>
                    <a:pt x="0" y="12335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5042353" cy="13555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F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UNKNOWN rows 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7150" y="3396337"/>
            <a:ext cx="13882399" cy="6190184"/>
          </a:xfrm>
          <a:custGeom>
            <a:avLst/>
            <a:gdLst/>
            <a:ahLst/>
            <a:cxnLst/>
            <a:rect r="r" b="b" t="t" l="l"/>
            <a:pathLst>
              <a:path h="6190184" w="13882399">
                <a:moveTo>
                  <a:pt x="0" y="0"/>
                </a:moveTo>
                <a:lnTo>
                  <a:pt x="13882399" y="0"/>
                </a:lnTo>
                <a:lnTo>
                  <a:pt x="13882399" y="6190184"/>
                </a:lnTo>
                <a:lnTo>
                  <a:pt x="0" y="61901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816" t="-7541" r="-3357" b="-8129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15810" y="1013774"/>
            <a:ext cx="5835968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Warehouse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5810" y="2061524"/>
            <a:ext cx="9828274" cy="765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6"/>
              </a:lnSpc>
            </a:pPr>
            <a:r>
              <a:rPr lang="en-US" sz="443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Galaxy Sch</a:t>
            </a:r>
            <a:r>
              <a:rPr lang="en-US" b="true" sz="443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ema for Device Analytics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43135" y="370513"/>
            <a:ext cx="2952969" cy="786136"/>
            <a:chOff x="0" y="0"/>
            <a:chExt cx="3937292" cy="1048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37254" cy="1048131"/>
            </a:xfrm>
            <a:custGeom>
              <a:avLst/>
              <a:gdLst/>
              <a:ahLst/>
              <a:cxnLst/>
              <a:rect r="r" b="b" t="t" l="l"/>
              <a:pathLst>
                <a:path h="1048131" w="3937254">
                  <a:moveTo>
                    <a:pt x="0" y="0"/>
                  </a:moveTo>
                  <a:lnTo>
                    <a:pt x="3937254" y="0"/>
                  </a:lnTo>
                  <a:lnTo>
                    <a:pt x="3937254" y="1048131"/>
                  </a:lnTo>
                  <a:lnTo>
                    <a:pt x="0" y="1048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2312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15810" y="605933"/>
            <a:ext cx="2513352" cy="315287"/>
          </a:xfrm>
          <a:custGeom>
            <a:avLst/>
            <a:gdLst/>
            <a:ahLst/>
            <a:cxnLst/>
            <a:rect r="r" b="b" t="t" l="l"/>
            <a:pathLst>
              <a:path h="315287" w="2513352">
                <a:moveTo>
                  <a:pt x="0" y="0"/>
                </a:moveTo>
                <a:lnTo>
                  <a:pt x="2513352" y="0"/>
                </a:lnTo>
                <a:lnTo>
                  <a:pt x="2513352" y="315287"/>
                </a:lnTo>
                <a:lnTo>
                  <a:pt x="0" y="315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78486" y="4421501"/>
            <a:ext cx="8372095" cy="1234440"/>
            <a:chOff x="0" y="0"/>
            <a:chExt cx="11162793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162793" cy="1645920"/>
            </a:xfrm>
            <a:custGeom>
              <a:avLst/>
              <a:gdLst/>
              <a:ahLst/>
              <a:cxnLst/>
              <a:rect r="r" b="b" t="t" l="l"/>
              <a:pathLst>
                <a:path h="1645920" w="11162793">
                  <a:moveTo>
                    <a:pt x="0" y="82296"/>
                  </a:moveTo>
                  <a:cubicBezTo>
                    <a:pt x="0" y="36830"/>
                    <a:pt x="34062" y="0"/>
                    <a:pt x="76110" y="0"/>
                  </a:cubicBezTo>
                  <a:lnTo>
                    <a:pt x="11086683" y="0"/>
                  </a:lnTo>
                  <a:cubicBezTo>
                    <a:pt x="11128732" y="0"/>
                    <a:pt x="11162793" y="36830"/>
                    <a:pt x="11162793" y="82296"/>
                  </a:cubicBezTo>
                  <a:lnTo>
                    <a:pt x="11162793" y="1563624"/>
                  </a:lnTo>
                  <a:cubicBezTo>
                    <a:pt x="11162793" y="1609090"/>
                    <a:pt x="11128732" y="1645920"/>
                    <a:pt x="11086683" y="1645920"/>
                  </a:cubicBezTo>
                  <a:lnTo>
                    <a:pt x="76110" y="1645920"/>
                  </a:lnTo>
                  <a:cubicBezTo>
                    <a:pt x="34062" y="1645920"/>
                    <a:pt x="0" y="1609090"/>
                    <a:pt x="0" y="15636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1162793" cy="1703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F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Which devices disconnect most, and in which bed?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A58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Device events and daily device health  |  Biomedical engineering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24009" y="4421501"/>
            <a:ext cx="8372095" cy="1234440"/>
            <a:chOff x="0" y="0"/>
            <a:chExt cx="11162793" cy="1645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162793" cy="1645920"/>
            </a:xfrm>
            <a:custGeom>
              <a:avLst/>
              <a:gdLst/>
              <a:ahLst/>
              <a:cxnLst/>
              <a:rect r="r" b="b" t="t" l="l"/>
              <a:pathLst>
                <a:path h="1645920" w="11162793">
                  <a:moveTo>
                    <a:pt x="0" y="82296"/>
                  </a:moveTo>
                  <a:cubicBezTo>
                    <a:pt x="0" y="36830"/>
                    <a:pt x="34062" y="0"/>
                    <a:pt x="76110" y="0"/>
                  </a:cubicBezTo>
                  <a:lnTo>
                    <a:pt x="11086683" y="0"/>
                  </a:lnTo>
                  <a:cubicBezTo>
                    <a:pt x="11128732" y="0"/>
                    <a:pt x="11162793" y="36830"/>
                    <a:pt x="11162793" y="82296"/>
                  </a:cubicBezTo>
                  <a:lnTo>
                    <a:pt x="11162793" y="1563624"/>
                  </a:lnTo>
                  <a:cubicBezTo>
                    <a:pt x="11162793" y="1609090"/>
                    <a:pt x="11128732" y="1645920"/>
                    <a:pt x="11086683" y="1645920"/>
                  </a:cubicBezTo>
                  <a:lnTo>
                    <a:pt x="76110" y="1645920"/>
                  </a:lnTo>
                  <a:cubicBezTo>
                    <a:pt x="34062" y="1645920"/>
                    <a:pt x="0" y="1609090"/>
                    <a:pt x="0" y="15636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162793" cy="1703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F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Which readings breach a threshold, and how severe?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A58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Threshold alerts  |  Authorised monitoring staff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78486" y="7258548"/>
            <a:ext cx="8372095" cy="1234440"/>
            <a:chOff x="0" y="0"/>
            <a:chExt cx="11162793" cy="16459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162793" cy="1645920"/>
            </a:xfrm>
            <a:custGeom>
              <a:avLst/>
              <a:gdLst/>
              <a:ahLst/>
              <a:cxnLst/>
              <a:rect r="r" b="b" t="t" l="l"/>
              <a:pathLst>
                <a:path h="1645920" w="11162793">
                  <a:moveTo>
                    <a:pt x="0" y="82296"/>
                  </a:moveTo>
                  <a:cubicBezTo>
                    <a:pt x="0" y="36830"/>
                    <a:pt x="34062" y="0"/>
                    <a:pt x="76110" y="0"/>
                  </a:cubicBezTo>
                  <a:lnTo>
                    <a:pt x="11086683" y="0"/>
                  </a:lnTo>
                  <a:cubicBezTo>
                    <a:pt x="11128732" y="0"/>
                    <a:pt x="11162793" y="36830"/>
                    <a:pt x="11162793" y="82296"/>
                  </a:cubicBezTo>
                  <a:lnTo>
                    <a:pt x="11162793" y="1563624"/>
                  </a:lnTo>
                  <a:cubicBezTo>
                    <a:pt x="11162793" y="1609090"/>
                    <a:pt x="11128732" y="1645920"/>
                    <a:pt x="11086683" y="1645920"/>
                  </a:cubicBezTo>
                  <a:lnTo>
                    <a:pt x="76110" y="1645920"/>
                  </a:lnTo>
                  <a:cubicBezTo>
                    <a:pt x="34062" y="1645920"/>
                    <a:pt x="0" y="1609090"/>
                    <a:pt x="0" y="15636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1162793" cy="1703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F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Where did a device go quiet while on a patient?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A58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Readings with missing values  |  Operations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24009" y="7258548"/>
            <a:ext cx="8372095" cy="1234440"/>
            <a:chOff x="0" y="0"/>
            <a:chExt cx="11162793" cy="16459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162793" cy="1645920"/>
            </a:xfrm>
            <a:custGeom>
              <a:avLst/>
              <a:gdLst/>
              <a:ahLst/>
              <a:cxnLst/>
              <a:rect r="r" b="b" t="t" l="l"/>
              <a:pathLst>
                <a:path h="1645920" w="11162793">
                  <a:moveTo>
                    <a:pt x="0" y="82296"/>
                  </a:moveTo>
                  <a:cubicBezTo>
                    <a:pt x="0" y="36830"/>
                    <a:pt x="34062" y="0"/>
                    <a:pt x="76110" y="0"/>
                  </a:cubicBezTo>
                  <a:lnTo>
                    <a:pt x="11086683" y="0"/>
                  </a:lnTo>
                  <a:cubicBezTo>
                    <a:pt x="11128732" y="0"/>
                    <a:pt x="11162793" y="36830"/>
                    <a:pt x="11162793" y="82296"/>
                  </a:cubicBezTo>
                  <a:lnTo>
                    <a:pt x="11162793" y="1563624"/>
                  </a:lnTo>
                  <a:cubicBezTo>
                    <a:pt x="11162793" y="1609090"/>
                    <a:pt x="11128732" y="1645920"/>
                    <a:pt x="11086683" y="1645920"/>
                  </a:cubicBezTo>
                  <a:lnTo>
                    <a:pt x="76110" y="1645920"/>
                  </a:lnTo>
                  <a:cubicBezTo>
                    <a:pt x="34062" y="1645920"/>
                    <a:pt x="0" y="1609090"/>
                    <a:pt x="0" y="15636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1162793" cy="1703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F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full is each ward?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A58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Daily occupancy snapshot  |  Hospital management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5302477" y="7450753"/>
            <a:ext cx="2985523" cy="2836247"/>
          </a:xfrm>
          <a:custGeom>
            <a:avLst/>
            <a:gdLst/>
            <a:ahLst/>
            <a:cxnLst/>
            <a:rect r="r" b="b" t="t" l="l"/>
            <a:pathLst>
              <a:path h="2836247" w="2985523">
                <a:moveTo>
                  <a:pt x="0" y="0"/>
                </a:moveTo>
                <a:lnTo>
                  <a:pt x="2985523" y="0"/>
                </a:lnTo>
                <a:lnTo>
                  <a:pt x="2985523" y="2836247"/>
                </a:lnTo>
                <a:lnTo>
                  <a:pt x="0" y="28362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4000"/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15810" y="1694239"/>
            <a:ext cx="5835968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Warehouse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5810" y="2741989"/>
            <a:ext cx="8120879" cy="765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6"/>
              </a:lnSpc>
            </a:pPr>
            <a:r>
              <a:rPr lang="en-US" sz="443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th</a:t>
            </a:r>
            <a:r>
              <a:rPr lang="en-US" b="true" sz="443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 Warehouse Answers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43135" y="370513"/>
            <a:ext cx="2952969" cy="786136"/>
            <a:chOff x="0" y="0"/>
            <a:chExt cx="3937292" cy="1048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37254" cy="1048131"/>
            </a:xfrm>
            <a:custGeom>
              <a:avLst/>
              <a:gdLst/>
              <a:ahLst/>
              <a:cxnLst/>
              <a:rect r="r" b="b" t="t" l="l"/>
              <a:pathLst>
                <a:path h="1048131" w="3937254">
                  <a:moveTo>
                    <a:pt x="0" y="0"/>
                  </a:moveTo>
                  <a:lnTo>
                    <a:pt x="3937254" y="0"/>
                  </a:lnTo>
                  <a:lnTo>
                    <a:pt x="3937254" y="1048131"/>
                  </a:lnTo>
                  <a:lnTo>
                    <a:pt x="0" y="1048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2312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15810" y="605933"/>
            <a:ext cx="2513352" cy="315287"/>
          </a:xfrm>
          <a:custGeom>
            <a:avLst/>
            <a:gdLst/>
            <a:ahLst/>
            <a:cxnLst/>
            <a:rect r="r" b="b" t="t" l="l"/>
            <a:pathLst>
              <a:path h="315287" w="2513352">
                <a:moveTo>
                  <a:pt x="0" y="0"/>
                </a:moveTo>
                <a:lnTo>
                  <a:pt x="2513352" y="0"/>
                </a:lnTo>
                <a:lnTo>
                  <a:pt x="2513352" y="315287"/>
                </a:lnTo>
                <a:lnTo>
                  <a:pt x="0" y="315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51322" y="3064785"/>
            <a:ext cx="3919559" cy="1855314"/>
          </a:xfrm>
          <a:custGeom>
            <a:avLst/>
            <a:gdLst/>
            <a:ahLst/>
            <a:cxnLst/>
            <a:rect r="r" b="b" t="t" l="l"/>
            <a:pathLst>
              <a:path h="1855314" w="3919559">
                <a:moveTo>
                  <a:pt x="0" y="0"/>
                </a:moveTo>
                <a:lnTo>
                  <a:pt x="3919558" y="0"/>
                </a:lnTo>
                <a:lnTo>
                  <a:pt x="3919558" y="1855314"/>
                </a:lnTo>
                <a:lnTo>
                  <a:pt x="0" y="18553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620147" y="3064785"/>
            <a:ext cx="4156842" cy="1855314"/>
          </a:xfrm>
          <a:custGeom>
            <a:avLst/>
            <a:gdLst/>
            <a:ahLst/>
            <a:cxnLst/>
            <a:rect r="r" b="b" t="t" l="l"/>
            <a:pathLst>
              <a:path h="1855314" w="4156842">
                <a:moveTo>
                  <a:pt x="0" y="0"/>
                </a:moveTo>
                <a:lnTo>
                  <a:pt x="4156842" y="0"/>
                </a:lnTo>
                <a:lnTo>
                  <a:pt x="4156842" y="1855314"/>
                </a:lnTo>
                <a:lnTo>
                  <a:pt x="0" y="18553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026255" y="3064785"/>
            <a:ext cx="4367375" cy="1855314"/>
          </a:xfrm>
          <a:custGeom>
            <a:avLst/>
            <a:gdLst/>
            <a:ahLst/>
            <a:cxnLst/>
            <a:rect r="r" b="b" t="t" l="l"/>
            <a:pathLst>
              <a:path h="1855314" w="4367375">
                <a:moveTo>
                  <a:pt x="0" y="0"/>
                </a:moveTo>
                <a:lnTo>
                  <a:pt x="4367375" y="0"/>
                </a:lnTo>
                <a:lnTo>
                  <a:pt x="4367375" y="1855314"/>
                </a:lnTo>
                <a:lnTo>
                  <a:pt x="0" y="18553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584024" y="3064785"/>
            <a:ext cx="4509342" cy="1863092"/>
          </a:xfrm>
          <a:custGeom>
            <a:avLst/>
            <a:gdLst/>
            <a:ahLst/>
            <a:cxnLst/>
            <a:rect r="r" b="b" t="t" l="l"/>
            <a:pathLst>
              <a:path h="1863092" w="4509342">
                <a:moveTo>
                  <a:pt x="0" y="0"/>
                </a:moveTo>
                <a:lnTo>
                  <a:pt x="4509343" y="0"/>
                </a:lnTo>
                <a:lnTo>
                  <a:pt x="4509343" y="1863092"/>
                </a:lnTo>
                <a:lnTo>
                  <a:pt x="0" y="18630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27179" y="5480327"/>
            <a:ext cx="14833643" cy="4316618"/>
          </a:xfrm>
          <a:custGeom>
            <a:avLst/>
            <a:gdLst/>
            <a:ahLst/>
            <a:cxnLst/>
            <a:rect r="r" b="b" t="t" l="l"/>
            <a:pathLst>
              <a:path h="4316618" w="14833643">
                <a:moveTo>
                  <a:pt x="0" y="0"/>
                </a:moveTo>
                <a:lnTo>
                  <a:pt x="14833642" y="0"/>
                </a:lnTo>
                <a:lnTo>
                  <a:pt x="14833642" y="4316618"/>
                </a:lnTo>
                <a:lnTo>
                  <a:pt x="0" y="43166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067707" y="7443871"/>
            <a:ext cx="3220293" cy="3059278"/>
          </a:xfrm>
          <a:custGeom>
            <a:avLst/>
            <a:gdLst/>
            <a:ahLst/>
            <a:cxnLst/>
            <a:rect r="r" b="b" t="t" l="l"/>
            <a:pathLst>
              <a:path h="3059278" w="3220293">
                <a:moveTo>
                  <a:pt x="0" y="0"/>
                </a:moveTo>
                <a:lnTo>
                  <a:pt x="3220293" y="0"/>
                </a:lnTo>
                <a:lnTo>
                  <a:pt x="3220293" y="3059278"/>
                </a:lnTo>
                <a:lnTo>
                  <a:pt x="0" y="30592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91000"/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51322" y="1579449"/>
            <a:ext cx="8692678" cy="2023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2"/>
              </a:lnSpc>
            </a:pPr>
            <a:r>
              <a:rPr lang="en-US" b="true" sz="6235" spc="-124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Pipeline Orchestration</a:t>
            </a:r>
          </a:p>
          <a:p>
            <a:pPr algn="l">
              <a:lnSpc>
                <a:spcPts val="7482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43135" y="370513"/>
            <a:ext cx="2952969" cy="786136"/>
            <a:chOff x="0" y="0"/>
            <a:chExt cx="3937292" cy="1048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37254" cy="1048131"/>
            </a:xfrm>
            <a:custGeom>
              <a:avLst/>
              <a:gdLst/>
              <a:ahLst/>
              <a:cxnLst/>
              <a:rect r="r" b="b" t="t" l="l"/>
              <a:pathLst>
                <a:path h="1048131" w="3937254">
                  <a:moveTo>
                    <a:pt x="0" y="0"/>
                  </a:moveTo>
                  <a:lnTo>
                    <a:pt x="3937254" y="0"/>
                  </a:lnTo>
                  <a:lnTo>
                    <a:pt x="3937254" y="1048131"/>
                  </a:lnTo>
                  <a:lnTo>
                    <a:pt x="0" y="1048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2312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15810" y="605933"/>
            <a:ext cx="2513352" cy="315287"/>
          </a:xfrm>
          <a:custGeom>
            <a:avLst/>
            <a:gdLst/>
            <a:ahLst/>
            <a:cxnLst/>
            <a:rect r="r" b="b" t="t" l="l"/>
            <a:pathLst>
              <a:path h="315287" w="2513352">
                <a:moveTo>
                  <a:pt x="0" y="0"/>
                </a:moveTo>
                <a:lnTo>
                  <a:pt x="2513352" y="0"/>
                </a:lnTo>
                <a:lnTo>
                  <a:pt x="2513352" y="315287"/>
                </a:lnTo>
                <a:lnTo>
                  <a:pt x="0" y="315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97731" y="1156649"/>
            <a:ext cx="11482105" cy="8816164"/>
          </a:xfrm>
          <a:custGeom>
            <a:avLst/>
            <a:gdLst/>
            <a:ahLst/>
            <a:cxnLst/>
            <a:rect r="r" b="b" t="t" l="l"/>
            <a:pathLst>
              <a:path h="8816164" w="11482105">
                <a:moveTo>
                  <a:pt x="0" y="0"/>
                </a:moveTo>
                <a:lnTo>
                  <a:pt x="11482105" y="0"/>
                </a:lnTo>
                <a:lnTo>
                  <a:pt x="11482105" y="8816165"/>
                </a:lnTo>
                <a:lnTo>
                  <a:pt x="0" y="88161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269360" y="114760"/>
            <a:ext cx="353357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Dashboard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43135" y="370513"/>
            <a:ext cx="2952969" cy="786136"/>
            <a:chOff x="0" y="0"/>
            <a:chExt cx="3937292" cy="1048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37254" cy="1048131"/>
            </a:xfrm>
            <a:custGeom>
              <a:avLst/>
              <a:gdLst/>
              <a:ahLst/>
              <a:cxnLst/>
              <a:rect r="r" b="b" t="t" l="l"/>
              <a:pathLst>
                <a:path h="1048131" w="3937254">
                  <a:moveTo>
                    <a:pt x="0" y="0"/>
                  </a:moveTo>
                  <a:lnTo>
                    <a:pt x="3937254" y="0"/>
                  </a:lnTo>
                  <a:lnTo>
                    <a:pt x="3937254" y="1048131"/>
                  </a:lnTo>
                  <a:lnTo>
                    <a:pt x="0" y="1048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2312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15810" y="605933"/>
            <a:ext cx="2513352" cy="315287"/>
          </a:xfrm>
          <a:custGeom>
            <a:avLst/>
            <a:gdLst/>
            <a:ahLst/>
            <a:cxnLst/>
            <a:rect r="r" b="b" t="t" l="l"/>
            <a:pathLst>
              <a:path h="315287" w="2513352">
                <a:moveTo>
                  <a:pt x="0" y="0"/>
                </a:moveTo>
                <a:lnTo>
                  <a:pt x="2513352" y="0"/>
                </a:lnTo>
                <a:lnTo>
                  <a:pt x="2513352" y="315287"/>
                </a:lnTo>
                <a:lnTo>
                  <a:pt x="0" y="315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429162" y="1156649"/>
            <a:ext cx="12258028" cy="8517048"/>
          </a:xfrm>
          <a:custGeom>
            <a:avLst/>
            <a:gdLst/>
            <a:ahLst/>
            <a:cxnLst/>
            <a:rect r="r" b="b" t="t" l="l"/>
            <a:pathLst>
              <a:path h="8517048" w="12258028">
                <a:moveTo>
                  <a:pt x="0" y="0"/>
                </a:moveTo>
                <a:lnTo>
                  <a:pt x="12258028" y="0"/>
                </a:lnTo>
                <a:lnTo>
                  <a:pt x="12258028" y="8517048"/>
                </a:lnTo>
                <a:lnTo>
                  <a:pt x="0" y="85170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269360" y="114760"/>
            <a:ext cx="353357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Dashboard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3105807"/>
            <a:chOff x="0" y="0"/>
            <a:chExt cx="24384000" cy="41410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141089"/>
            </a:xfrm>
            <a:custGeom>
              <a:avLst/>
              <a:gdLst/>
              <a:ahLst/>
              <a:cxnLst/>
              <a:rect r="r" b="b" t="t" l="l"/>
              <a:pathLst>
                <a:path h="414108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141089"/>
                  </a:lnTo>
                  <a:lnTo>
                    <a:pt x="0" y="4141089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55081" y="1279141"/>
            <a:ext cx="7433548" cy="88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Agenda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113151" y="3722513"/>
            <a:ext cx="8279101" cy="415500"/>
            <a:chOff x="0" y="0"/>
            <a:chExt cx="11038802" cy="5539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Team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838831" y="3720827"/>
            <a:ext cx="53997" cy="378000"/>
            <a:chOff x="0" y="0"/>
            <a:chExt cx="71996" cy="50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093720" y="5449967"/>
            <a:ext cx="8279101" cy="415500"/>
            <a:chOff x="0" y="0"/>
            <a:chExt cx="11038802" cy="5539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Methodology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819400" y="5448300"/>
            <a:ext cx="53997" cy="378000"/>
            <a:chOff x="0" y="0"/>
            <a:chExt cx="71996" cy="50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838831" y="6691513"/>
            <a:ext cx="53997" cy="378000"/>
            <a:chOff x="0" y="0"/>
            <a:chExt cx="71996" cy="504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113151" y="7285330"/>
            <a:ext cx="8279101" cy="415500"/>
            <a:chOff x="0" y="0"/>
            <a:chExt cx="11038802" cy="5539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838831" y="7283644"/>
            <a:ext cx="53997" cy="378000"/>
            <a:chOff x="0" y="0"/>
            <a:chExt cx="71996" cy="504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113151" y="4306129"/>
            <a:ext cx="8279101" cy="415500"/>
            <a:chOff x="0" y="0"/>
            <a:chExt cx="11038802" cy="55399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838831" y="4304443"/>
            <a:ext cx="53997" cy="378000"/>
            <a:chOff x="0" y="0"/>
            <a:chExt cx="71996" cy="504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093720" y="6059586"/>
            <a:ext cx="8279101" cy="557752"/>
            <a:chOff x="0" y="0"/>
            <a:chExt cx="11038802" cy="74366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038800" cy="743667"/>
            </a:xfrm>
            <a:custGeom>
              <a:avLst/>
              <a:gdLst/>
              <a:ahLst/>
              <a:cxnLst/>
              <a:rect r="r" b="b" t="t" l="l"/>
              <a:pathLst>
                <a:path h="743667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743667"/>
                  </a:lnTo>
                  <a:lnTo>
                    <a:pt x="0" y="7436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982" r="0" b="-22647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11038802" cy="762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3240"/>
                </a:lnSpc>
                <a:spcBef>
                  <a:spcPct val="0"/>
                </a:spcBef>
              </a:pPr>
              <a:r>
                <a:rPr lang="en-US" sz="2700" strike="noStrike" u="none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Key Tasks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819400" y="6057900"/>
            <a:ext cx="53997" cy="378000"/>
            <a:chOff x="0" y="0"/>
            <a:chExt cx="71996" cy="504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3113151" y="4845777"/>
            <a:ext cx="8279101" cy="415500"/>
            <a:chOff x="0" y="0"/>
            <a:chExt cx="11038802" cy="55399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838831" y="4844091"/>
            <a:ext cx="53997" cy="378000"/>
            <a:chOff x="0" y="0"/>
            <a:chExt cx="71996" cy="504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3093720" y="6656675"/>
            <a:ext cx="8279101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  <a:r>
              <a:rPr lang="en-US" b="true" sz="2700" strike="noStrike" u="non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Recommendation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2212817" y="2665985"/>
            <a:ext cx="53817" cy="4354955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5753277" y="549561"/>
            <a:ext cx="2001615" cy="2001615"/>
          </a:xfrm>
          <a:custGeom>
            <a:avLst/>
            <a:gdLst/>
            <a:ahLst/>
            <a:cxnLst/>
            <a:rect r="r" b="b" t="t" l="l"/>
            <a:pathLst>
              <a:path h="2001615" w="2001615">
                <a:moveTo>
                  <a:pt x="0" y="0"/>
                </a:moveTo>
                <a:lnTo>
                  <a:pt x="2001615" y="0"/>
                </a:lnTo>
                <a:lnTo>
                  <a:pt x="2001615" y="2001615"/>
                </a:lnTo>
                <a:lnTo>
                  <a:pt x="0" y="20016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66685" y="1142336"/>
            <a:ext cx="6062662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Recommendation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39238" y="4652327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212817" y="3319780"/>
            <a:ext cx="17074439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Prioritize Maintenance for High-Risk Telemetry Devices </a:t>
            </a:r>
          </a:p>
          <a:p>
            <a:pPr algn="ctr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Resolve IoT Connectivity &amp; Telemetry Signal Drops</a:t>
            </a:r>
          </a:p>
          <a:p>
            <a:pPr algn="ctr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Automate Alert Escalations for Low Oxygen &amp; Abnormal Blood Pressure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3105807"/>
            <a:chOff x="0" y="0"/>
            <a:chExt cx="24384000" cy="41410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141089"/>
            </a:xfrm>
            <a:custGeom>
              <a:avLst/>
              <a:gdLst/>
              <a:ahLst/>
              <a:cxnLst/>
              <a:rect r="r" b="b" t="t" l="l"/>
              <a:pathLst>
                <a:path h="414108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141089"/>
                  </a:lnTo>
                  <a:lnTo>
                    <a:pt x="0" y="4141089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55081" y="1279141"/>
            <a:ext cx="7433548" cy="88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Agenda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113151" y="3722513"/>
            <a:ext cx="8279101" cy="415500"/>
            <a:chOff x="0" y="0"/>
            <a:chExt cx="11038802" cy="5539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Team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838831" y="3720827"/>
            <a:ext cx="53997" cy="378000"/>
            <a:chOff x="0" y="0"/>
            <a:chExt cx="71996" cy="50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093720" y="5449967"/>
            <a:ext cx="8279101" cy="415500"/>
            <a:chOff x="0" y="0"/>
            <a:chExt cx="11038802" cy="5539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Methodology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819400" y="5448300"/>
            <a:ext cx="53997" cy="378000"/>
            <a:chOff x="0" y="0"/>
            <a:chExt cx="71996" cy="50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838831" y="6691513"/>
            <a:ext cx="53997" cy="378000"/>
            <a:chOff x="0" y="0"/>
            <a:chExt cx="71996" cy="504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113151" y="7285330"/>
            <a:ext cx="8279101" cy="557752"/>
            <a:chOff x="0" y="0"/>
            <a:chExt cx="11038802" cy="74366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038800" cy="743667"/>
            </a:xfrm>
            <a:custGeom>
              <a:avLst/>
              <a:gdLst/>
              <a:ahLst/>
              <a:cxnLst/>
              <a:rect r="r" b="b" t="t" l="l"/>
              <a:pathLst>
                <a:path h="743667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743667"/>
                  </a:lnTo>
                  <a:lnTo>
                    <a:pt x="0" y="7436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982" r="0" b="-22647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1038802" cy="762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700" strike="noStrike" u="non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Conclusion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838831" y="7283644"/>
            <a:ext cx="53997" cy="378000"/>
            <a:chOff x="0" y="0"/>
            <a:chExt cx="71996" cy="504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113151" y="4306129"/>
            <a:ext cx="8279101" cy="415500"/>
            <a:chOff x="0" y="0"/>
            <a:chExt cx="11038802" cy="55399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838831" y="4304443"/>
            <a:ext cx="53997" cy="378000"/>
            <a:chOff x="0" y="0"/>
            <a:chExt cx="71996" cy="504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093720" y="6059586"/>
            <a:ext cx="8279101" cy="557752"/>
            <a:chOff x="0" y="0"/>
            <a:chExt cx="11038802" cy="74366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038800" cy="743667"/>
            </a:xfrm>
            <a:custGeom>
              <a:avLst/>
              <a:gdLst/>
              <a:ahLst/>
              <a:cxnLst/>
              <a:rect r="r" b="b" t="t" l="l"/>
              <a:pathLst>
                <a:path h="743667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743667"/>
                  </a:lnTo>
                  <a:lnTo>
                    <a:pt x="0" y="7436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982" r="0" b="-22647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11038802" cy="762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3240"/>
                </a:lnSpc>
                <a:spcBef>
                  <a:spcPct val="0"/>
                </a:spcBef>
              </a:pPr>
              <a:r>
                <a:rPr lang="en-US" sz="2700" strike="noStrike" u="none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Key Tasks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819400" y="6057900"/>
            <a:ext cx="53997" cy="378000"/>
            <a:chOff x="0" y="0"/>
            <a:chExt cx="71996" cy="504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3113151" y="4845777"/>
            <a:ext cx="8279101" cy="415500"/>
            <a:chOff x="0" y="0"/>
            <a:chExt cx="11038802" cy="55399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838831" y="4844091"/>
            <a:ext cx="53997" cy="378000"/>
            <a:chOff x="0" y="0"/>
            <a:chExt cx="71996" cy="504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3093720" y="6656675"/>
            <a:ext cx="8279101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Recommendation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1738129" y="1655751"/>
            <a:ext cx="0" cy="5544831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5317981" y="6708664"/>
            <a:ext cx="2593317" cy="3124479"/>
          </a:xfrm>
          <a:custGeom>
            <a:avLst/>
            <a:gdLst/>
            <a:ahLst/>
            <a:cxnLst/>
            <a:rect r="r" b="b" t="t" l="l"/>
            <a:pathLst>
              <a:path h="3124479" w="2593317">
                <a:moveTo>
                  <a:pt x="0" y="0"/>
                </a:moveTo>
                <a:lnTo>
                  <a:pt x="2593318" y="0"/>
                </a:lnTo>
                <a:lnTo>
                  <a:pt x="2593318" y="3124479"/>
                </a:lnTo>
                <a:lnTo>
                  <a:pt x="0" y="3124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66685" y="646983"/>
            <a:ext cx="14201899" cy="96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67"/>
              </a:lnSpc>
            </a:pPr>
            <a:r>
              <a:rPr lang="en-US" sz="563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Pipeline Conclusion &amp; Core Engineering Value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39238" y="4652327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738129" y="1958049"/>
            <a:ext cx="16541497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Complete En</a:t>
            </a: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d-to-End Lifecycle: 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Demonstrates a full data engineering pipeline—from synthetic IoT data generation, batch &amp; streaming ingestion, and Lakehouse storage to Snowflake loading, dbt transformations, and Power BI dashboards.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38129" y="4600057"/>
            <a:ext cx="15771597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Traceability &amp; Automated Quality Gates:</a:t>
            </a:r>
            <a:r>
              <a:rPr lang="en-US" sz="3399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Integrates distributed pipeline stages with strict data quality testing and workflow orchestration, ensuring end-to-end data integrity across every layer.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38129" y="6641989"/>
            <a:ext cx="14305333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Focus on Data Engineering Excellence:</a:t>
            </a:r>
            <a:r>
              <a:rPr lang="en-US" sz="3399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The core value lies in reliable data movement, distributed validation, and seamless pipeline integration rather than clinical data interpretation.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3105807"/>
            <a:chOff x="0" y="0"/>
            <a:chExt cx="24384000" cy="41410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141089"/>
            </a:xfrm>
            <a:custGeom>
              <a:avLst/>
              <a:gdLst/>
              <a:ahLst/>
              <a:cxnLst/>
              <a:rect r="r" b="b" t="t" l="l"/>
              <a:pathLst>
                <a:path h="414108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141089"/>
                  </a:lnTo>
                  <a:lnTo>
                    <a:pt x="0" y="4141089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472405" y="4953667"/>
            <a:ext cx="10307663" cy="2731531"/>
          </a:xfrm>
          <a:custGeom>
            <a:avLst/>
            <a:gdLst/>
            <a:ahLst/>
            <a:cxnLst/>
            <a:rect r="r" b="b" t="t" l="l"/>
            <a:pathLst>
              <a:path h="2731531" w="10307663">
                <a:moveTo>
                  <a:pt x="0" y="0"/>
                </a:moveTo>
                <a:lnTo>
                  <a:pt x="10307663" y="0"/>
                </a:lnTo>
                <a:lnTo>
                  <a:pt x="10307663" y="2731531"/>
                </a:lnTo>
                <a:lnTo>
                  <a:pt x="0" y="27315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8436" y="1028700"/>
            <a:ext cx="2939394" cy="3127015"/>
          </a:xfrm>
          <a:custGeom>
            <a:avLst/>
            <a:gdLst/>
            <a:ahLst/>
            <a:cxnLst/>
            <a:rect r="r" b="b" t="t" l="l"/>
            <a:pathLst>
              <a:path h="3127015" w="2939394">
                <a:moveTo>
                  <a:pt x="0" y="0"/>
                </a:moveTo>
                <a:lnTo>
                  <a:pt x="2939393" y="0"/>
                </a:lnTo>
                <a:lnTo>
                  <a:pt x="2939393" y="3127015"/>
                </a:lnTo>
                <a:lnTo>
                  <a:pt x="0" y="31270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95080" y="8427510"/>
            <a:ext cx="17192920" cy="1121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ⓒ2020 SAMSUNG.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Electronics Corporate Citizenship Office holds the copyright of book.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book is a literary property protected by copyright law so reprint and reproduction without permission are prohibited. 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 use this book other than the curriculum of Samsung innovation Campus or to use the entire or part of this book, you must receive written consent from copyright holder.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896871" y="605933"/>
            <a:ext cx="2513352" cy="315287"/>
          </a:xfrm>
          <a:custGeom>
            <a:avLst/>
            <a:gdLst/>
            <a:ahLst/>
            <a:cxnLst/>
            <a:rect r="r" b="b" t="t" l="l"/>
            <a:pathLst>
              <a:path h="315287" w="2513352">
                <a:moveTo>
                  <a:pt x="0" y="0"/>
                </a:moveTo>
                <a:lnTo>
                  <a:pt x="2513353" y="0"/>
                </a:lnTo>
                <a:lnTo>
                  <a:pt x="2513353" y="315287"/>
                </a:lnTo>
                <a:lnTo>
                  <a:pt x="0" y="315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041184" y="3943321"/>
            <a:ext cx="6205633" cy="1653207"/>
            <a:chOff x="0" y="0"/>
            <a:chExt cx="8274177" cy="22042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74177" cy="2204339"/>
            </a:xfrm>
            <a:custGeom>
              <a:avLst/>
              <a:gdLst/>
              <a:ahLst/>
              <a:cxnLst/>
              <a:rect r="r" b="b" t="t" l="l"/>
              <a:pathLst>
                <a:path h="2204339" w="8274177">
                  <a:moveTo>
                    <a:pt x="0" y="0"/>
                  </a:moveTo>
                  <a:lnTo>
                    <a:pt x="8274177" y="0"/>
                  </a:lnTo>
                  <a:lnTo>
                    <a:pt x="8274177" y="2204339"/>
                  </a:lnTo>
                  <a:lnTo>
                    <a:pt x="0" y="2204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23112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DAHZUmeE2JI</dc:identifier>
  <dcterms:modified xsi:type="dcterms:W3CDTF">2011-08-01T06:04:30Z</dcterms:modified>
  <cp:revision>1</cp:revision>
  <dc:title>project_template .pptx</dc:title>
</cp:coreProperties>
</file>